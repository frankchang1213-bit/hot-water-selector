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20"/>
    <p:sldId id="273" r:id="rId2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708684C-4D16-4618-839F-0558EEFCDFE6}" styleName="">
    <a:wholeTbl>
      <a:tcTxStyle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Style>
        <a:tcBdr/>
        <a:fill>
          <a:solidFill>
            <a:srgbClr val="EDEEEE"/>
          </a:solidFill>
        </a:fill>
      </a:tcStyle>
    </a:band2H>
    <a:firstCol>
      <a:tcTxStyle b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4C3C2611-4C71-4FC5-86AE-919BDF0F9419}" styleName="">
    <a:wholeTbl>
      <a:tcTxStyle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Style>
        <a:tcBdr/>
        <a:fill>
          <a:solidFill>
            <a:srgbClr val="E3E5E8"/>
          </a:solidFill>
        </a:fill>
      </a:tcStyle>
    </a:band2H>
    <a:firstCol>
      <a:tcTxStyle b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3" d="100"/>
          <a:sy n="33" d="100"/>
        </p:scale>
        <p:origin x="6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0" name="Shape 5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空白_副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3" descr="Picture 3"/>
          <p:cNvPicPr>
            <a:picLocks noChangeAspect="1"/>
          </p:cNvPicPr>
          <p:nvPr/>
        </p:nvPicPr>
        <p:blipFill>
          <a:blip r:embed="rId2">
            <a:alphaModFix amt="16467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空白_副本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空白_副本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4846" y="896544"/>
            <a:ext cx="3128951" cy="11358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_副本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012" y="5417145"/>
            <a:ext cx="7953976" cy="288172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像" descr="图像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1" y="-1"/>
            <a:ext cx="24384022" cy="13716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10477500" cy="14351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幻灯片标题</a:t>
            </a:r>
          </a:p>
        </p:txBody>
      </p:sp>
      <p:sp>
        <p:nvSpPr>
          <p:cNvPr id="4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10477500" cy="825601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med"/>
  <p:txStyles>
    <p:titleStyle>
      <a:lvl1pPr marL="0" marR="0" indent="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image" Target="../media/image6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7.jpeg"/><Relationship Id="rId7" Type="http://schemas.openxmlformats.org/officeDocument/2006/relationships/image" Target="../media/image16.jpeg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image" Target="../media/image22.tiff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image" Target="../media/image25.tiff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24.png"/><Relationship Id="rId2" Type="http://schemas.openxmlformats.org/officeDocument/2006/relationships/image" Target="../media/image32.png"/><Relationship Id="rId1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34.png"/><Relationship Id="rId4" Type="http://schemas.openxmlformats.org/officeDocument/2006/relationships/image" Target="../media/image21.png"/><Relationship Id="rId3" Type="http://schemas.openxmlformats.org/officeDocument/2006/relationships/image" Target="../media/image24.png"/><Relationship Id="rId2" Type="http://schemas.openxmlformats.org/officeDocument/2006/relationships/image" Target="../media/image37.png"/><Relationship Id="rId1" Type="http://schemas.openxmlformats.org/officeDocument/2006/relationships/image" Target="../media/image36.tiff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38.jpe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42.jpeg"/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45.png"/><Relationship Id="rId3" Type="http://schemas.openxmlformats.org/officeDocument/2006/relationships/image" Target="../media/image2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image" Target="../media/image52.png"/><Relationship Id="rId7" Type="http://schemas.openxmlformats.org/officeDocument/2006/relationships/image" Target="../media/image51.png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3.xml"/><Relationship Id="rId13" Type="http://schemas.openxmlformats.org/officeDocument/2006/relationships/image" Target="../media/image57.png"/><Relationship Id="rId12" Type="http://schemas.openxmlformats.org/officeDocument/2006/relationships/image" Target="../media/image56.png"/><Relationship Id="rId11" Type="http://schemas.openxmlformats.org/officeDocument/2006/relationships/image" Target="../media/image55.png"/><Relationship Id="rId10" Type="http://schemas.openxmlformats.org/officeDocument/2006/relationships/image" Target="../media/image54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58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文本框 4"/>
          <p:cNvSpPr txBox="1"/>
          <p:nvPr/>
        </p:nvSpPr>
        <p:spPr>
          <a:xfrm>
            <a:off x="1976687" y="9540086"/>
            <a:ext cx="7475469" cy="692493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>
            <a:lvl1pPr defTabSz="914400">
              <a:lnSpc>
                <a:spcPct val="100000"/>
              </a:lnSpc>
              <a:spcBef>
                <a:spcPts val="0"/>
              </a:spcBef>
              <a:defRPr sz="3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lang="zh-CN" altLang="en-US" dirty="0"/>
              <a:t>大户型选恒热，商用级大水量</a:t>
            </a:r>
            <a:endParaRPr dirty="0"/>
          </a:p>
        </p:txBody>
      </p:sp>
      <p:pic>
        <p:nvPicPr>
          <p:cNvPr id="53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881" y="1396585"/>
            <a:ext cx="4529221" cy="164093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5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499" y="5108830"/>
            <a:ext cx="7475469" cy="3949473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像" descr="图像"/>
          <p:cNvPicPr>
            <a:picLocks noChangeAspect="1"/>
          </p:cNvPicPr>
          <p:nvPr/>
        </p:nvPicPr>
        <p:blipFill>
          <a:blip r:embed="rId1"/>
          <a:srcRect t="219" b="18463"/>
          <a:stretch>
            <a:fillRect/>
          </a:stretch>
        </p:blipFill>
        <p:spPr>
          <a:xfrm>
            <a:off x="0" y="-124"/>
            <a:ext cx="24384000" cy="919504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57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4846" y="896544"/>
            <a:ext cx="3128951" cy="11358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8" name="百年恒续 为爱恒热"/>
          <p:cNvSpPr txBox="1"/>
          <p:nvPr/>
        </p:nvSpPr>
        <p:spPr>
          <a:xfrm>
            <a:off x="1190483" y="1629005"/>
            <a:ext cx="3133852" cy="5359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defTabSz="914400">
              <a:lnSpc>
                <a:spcPts val="3000"/>
              </a:lnSpc>
              <a:spcBef>
                <a:spcPts val="0"/>
              </a:spcBef>
              <a:defRPr sz="3000" b="1" spc="-117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百年恒续 为爱恒热</a:t>
            </a:r>
          </a:p>
        </p:txBody>
      </p:sp>
      <p:sp>
        <p:nvSpPr>
          <p:cNvPr id="59" name="文本框 5"/>
          <p:cNvSpPr txBox="1"/>
          <p:nvPr/>
        </p:nvSpPr>
        <p:spPr>
          <a:xfrm>
            <a:off x="6662655" y="867265"/>
            <a:ext cx="10170224" cy="193357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just" defTabSz="914400">
              <a:lnSpc>
                <a:spcPts val="2700"/>
              </a:lnSpc>
              <a:spcBef>
                <a:spcPts val="600"/>
              </a:spcBef>
              <a:defRPr sz="1500" b="1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恒热(EVERHOT)隶属于Rheem集团，起源澳大利亚，承袭百年热水基因，自1925年诞生以来，以稳定热水的开创性方案成为北美最大的热水设备制造商之一。</a:t>
            </a:r>
          </a:p>
          <a:p>
            <a:pPr algn="just" defTabSz="914400">
              <a:lnSpc>
                <a:spcPts val="2700"/>
              </a:lnSpc>
              <a:spcBef>
                <a:spcPts val="600"/>
              </a:spcBef>
              <a:defRPr sz="15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1994年，EVERHOT(恒热)在中国建立起首家专业容积式热水器制造基地，第一个将“家庭中央热水”概念带入中国，并为中国用户度身定制了适合中国家庭的中央热水器。今天，在中国，有近百万户正享受着恒热带来的美好生活。</a:t>
            </a:r>
          </a:p>
        </p:txBody>
      </p:sp>
      <p:pic>
        <p:nvPicPr>
          <p:cNvPr id="60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1391554"/>
            <a:ext cx="24384001" cy="6579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1" name="图像" descr="图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7817" y="11156483"/>
            <a:ext cx="535941" cy="53594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2" name="图像" descr="图像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8239" y="11156481"/>
            <a:ext cx="535941" cy="5359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65" name="圆角矩形 16"/>
          <p:cNvGrpSpPr/>
          <p:nvPr/>
        </p:nvGrpSpPr>
        <p:grpSpPr>
          <a:xfrm>
            <a:off x="2363148" y="9753603"/>
            <a:ext cx="1070783" cy="400817"/>
            <a:chOff x="-188923" y="0"/>
            <a:chExt cx="1070782" cy="400815"/>
          </a:xfrm>
        </p:grpSpPr>
        <p:sp>
          <p:nvSpPr>
            <p:cNvPr id="63" name="圆角矩形"/>
            <p:cNvSpPr/>
            <p:nvPr/>
          </p:nvSpPr>
          <p:spPr>
            <a:xfrm>
              <a:off x="-174897" y="33253"/>
              <a:ext cx="1042729" cy="33430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4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FFFFFF"/>
                  </a:solid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64" name="1920"/>
            <p:cNvSpPr txBox="1"/>
            <p:nvPr/>
          </p:nvSpPr>
          <p:spPr>
            <a:xfrm>
              <a:off x="-188924" y="-1"/>
              <a:ext cx="1070783" cy="4008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algn="ctr" defTabSz="914400">
                <a:lnSpc>
                  <a:spcPct val="100000"/>
                </a:lnSpc>
                <a:spcBef>
                  <a:spcPts val="0"/>
                </a:spcBef>
                <a:defRPr sz="1500">
                  <a:solidFill>
                    <a:srgbClr val="FFFFFF"/>
                  </a:solid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lvl1pPr>
            </a:lstStyle>
            <a:p>
              <a:r>
                <a:t>1920</a:t>
              </a:r>
            </a:p>
          </p:txBody>
        </p:sp>
      </p:grpSp>
      <p:sp>
        <p:nvSpPr>
          <p:cNvPr id="66" name="EVERHOT起源于澳大利亚DraffinBrother（德拉芬兄弟）的热水器制造事业，产品在20世纪30-40年代已经进入澳大利亚家庭"/>
          <p:cNvSpPr txBox="1"/>
          <p:nvPr/>
        </p:nvSpPr>
        <p:spPr>
          <a:xfrm>
            <a:off x="2369048" y="10178179"/>
            <a:ext cx="2185294" cy="82346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spcBef>
                <a:spcPts val="1500"/>
              </a:spcBef>
              <a:defRPr sz="1000"/>
            </a:pPr>
            <a:r>
              <a:rPr>
                <a:solidFill>
                  <a:srgbClr val="B02418"/>
                </a:solidFill>
              </a:rPr>
              <a:t>EVERHOT起源于澳大利亚DraffinBrother（德拉芬兄弟）的热水器制造事业，</a:t>
            </a:r>
            <a:r>
              <a:t>产品在20世纪30-40年代已经进入澳大利亚家庭</a:t>
            </a:r>
          </a:p>
        </p:txBody>
      </p:sp>
      <p:sp>
        <p:nvSpPr>
          <p:cNvPr id="67" name="直线连接符 14"/>
          <p:cNvSpPr/>
          <p:nvPr/>
        </p:nvSpPr>
        <p:spPr>
          <a:xfrm flipV="1">
            <a:off x="2145787" y="10003982"/>
            <a:ext cx="1" cy="1438534"/>
          </a:xfrm>
          <a:prstGeom prst="line">
            <a:avLst/>
          </a:prstGeom>
          <a:ln w="6350">
            <a:solidFill>
              <a:srgbClr val="C00000"/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68" name="椭圆 15"/>
          <p:cNvSpPr/>
          <p:nvPr/>
        </p:nvSpPr>
        <p:spPr>
          <a:xfrm>
            <a:off x="2024395" y="9811542"/>
            <a:ext cx="242785" cy="242785"/>
          </a:xfrm>
          <a:prstGeom prst="ellips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69" name="直线连接符 14"/>
          <p:cNvSpPr/>
          <p:nvPr/>
        </p:nvSpPr>
        <p:spPr>
          <a:xfrm flipV="1">
            <a:off x="5156209" y="11411650"/>
            <a:ext cx="1" cy="1438534"/>
          </a:xfrm>
          <a:prstGeom prst="line">
            <a:avLst/>
          </a:prstGeom>
          <a:ln w="6350">
            <a:solidFill>
              <a:srgbClr val="767677"/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70" name="椭圆 15"/>
          <p:cNvSpPr/>
          <p:nvPr/>
        </p:nvSpPr>
        <p:spPr>
          <a:xfrm>
            <a:off x="5034817" y="12794581"/>
            <a:ext cx="242785" cy="242785"/>
          </a:xfrm>
          <a:prstGeom prst="ellipse">
            <a:avLst/>
          </a:prstGeom>
          <a:solidFill>
            <a:srgbClr val="767677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grpSp>
        <p:nvGrpSpPr>
          <p:cNvPr id="73" name="圆角矩形 16"/>
          <p:cNvGrpSpPr/>
          <p:nvPr/>
        </p:nvGrpSpPr>
        <p:grpSpPr>
          <a:xfrm>
            <a:off x="5426871" y="12200233"/>
            <a:ext cx="1070783" cy="400816"/>
            <a:chOff x="-188923" y="0"/>
            <a:chExt cx="1070782" cy="400815"/>
          </a:xfrm>
        </p:grpSpPr>
        <p:sp>
          <p:nvSpPr>
            <p:cNvPr id="71" name="圆角矩形"/>
            <p:cNvSpPr/>
            <p:nvPr/>
          </p:nvSpPr>
          <p:spPr>
            <a:xfrm>
              <a:off x="-174897" y="33253"/>
              <a:ext cx="1042729" cy="334309"/>
            </a:xfrm>
            <a:prstGeom prst="roundRect">
              <a:avLst>
                <a:gd name="adj" fmla="val 50000"/>
              </a:avLst>
            </a:prstGeom>
            <a:solidFill>
              <a:srgbClr val="76767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4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FFFFFF"/>
                  </a:solid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72" name="1950"/>
            <p:cNvSpPr txBox="1"/>
            <p:nvPr/>
          </p:nvSpPr>
          <p:spPr>
            <a:xfrm>
              <a:off x="-188924" y="-1"/>
              <a:ext cx="1070783" cy="4008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algn="ctr" defTabSz="914400">
                <a:lnSpc>
                  <a:spcPct val="100000"/>
                </a:lnSpc>
                <a:spcBef>
                  <a:spcPts val="0"/>
                </a:spcBef>
                <a:defRPr sz="1500">
                  <a:solidFill>
                    <a:srgbClr val="FFFFFF"/>
                  </a:solid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lvl1pPr>
            </a:lstStyle>
            <a:p>
              <a:r>
                <a:t>1950</a:t>
              </a:r>
            </a:p>
          </p:txBody>
        </p:sp>
      </p:grpSp>
      <p:sp>
        <p:nvSpPr>
          <p:cNvPr id="74" name="扩建厂房、增加设备，继续扩大热水设备生产"/>
          <p:cNvSpPr txBox="1"/>
          <p:nvPr/>
        </p:nvSpPr>
        <p:spPr>
          <a:xfrm>
            <a:off x="5432771" y="12628611"/>
            <a:ext cx="1551819" cy="4572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1500"/>
              </a:spcBef>
              <a:defRPr sz="1000">
                <a:solidFill>
                  <a:srgbClr val="767677"/>
                </a:solidFill>
              </a:defRPr>
            </a:lvl1pPr>
          </a:lstStyle>
          <a:p>
            <a:r>
              <a:t>扩建厂房、增加设备，继续扩大热水设备生产</a:t>
            </a:r>
          </a:p>
        </p:txBody>
      </p:sp>
      <p:sp>
        <p:nvSpPr>
          <p:cNvPr id="75" name="直线连接符 14"/>
          <p:cNvSpPr/>
          <p:nvPr/>
        </p:nvSpPr>
        <p:spPr>
          <a:xfrm flipV="1">
            <a:off x="7673228" y="9870646"/>
            <a:ext cx="1" cy="1438534"/>
          </a:xfrm>
          <a:prstGeom prst="line">
            <a:avLst/>
          </a:prstGeom>
          <a:ln w="6350">
            <a:solidFill>
              <a:srgbClr val="767677"/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76" name="椭圆 15"/>
          <p:cNvSpPr/>
          <p:nvPr/>
        </p:nvSpPr>
        <p:spPr>
          <a:xfrm>
            <a:off x="7551836" y="9811540"/>
            <a:ext cx="242785" cy="242785"/>
          </a:xfrm>
          <a:prstGeom prst="ellipse">
            <a:avLst/>
          </a:prstGeom>
          <a:solidFill>
            <a:srgbClr val="767677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77" name="图像" descr="图像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636" y="11156481"/>
            <a:ext cx="535941" cy="5359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80" name="圆角矩形 16"/>
          <p:cNvGrpSpPr/>
          <p:nvPr/>
        </p:nvGrpSpPr>
        <p:grpSpPr>
          <a:xfrm>
            <a:off x="7976648" y="9763096"/>
            <a:ext cx="1070783" cy="400816"/>
            <a:chOff x="-188923" y="0"/>
            <a:chExt cx="1070782" cy="400815"/>
          </a:xfrm>
        </p:grpSpPr>
        <p:sp>
          <p:nvSpPr>
            <p:cNvPr id="78" name="圆角矩形"/>
            <p:cNvSpPr/>
            <p:nvPr/>
          </p:nvSpPr>
          <p:spPr>
            <a:xfrm>
              <a:off x="-174897" y="33253"/>
              <a:ext cx="1042729" cy="334309"/>
            </a:xfrm>
            <a:prstGeom prst="roundRect">
              <a:avLst>
                <a:gd name="adj" fmla="val 50000"/>
              </a:avLst>
            </a:prstGeom>
            <a:solidFill>
              <a:srgbClr val="76767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4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FFFFFF"/>
                  </a:solid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79" name="1980"/>
            <p:cNvSpPr txBox="1"/>
            <p:nvPr/>
          </p:nvSpPr>
          <p:spPr>
            <a:xfrm>
              <a:off x="-188924" y="-1"/>
              <a:ext cx="1070783" cy="4008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algn="ctr" defTabSz="914400">
                <a:lnSpc>
                  <a:spcPct val="100000"/>
                </a:lnSpc>
                <a:spcBef>
                  <a:spcPts val="0"/>
                </a:spcBef>
                <a:defRPr sz="1500">
                  <a:solidFill>
                    <a:srgbClr val="FFFFFF"/>
                  </a:solid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lvl1pPr>
            </a:lstStyle>
            <a:p>
              <a:r>
                <a:t>1980</a:t>
              </a:r>
            </a:p>
          </p:txBody>
        </p:sp>
      </p:grpSp>
      <p:sp>
        <p:nvSpPr>
          <p:cNvPr id="81" name="Everhot品牌并入瑞美集团，建立热水炉百年传承体系。家族资料记载，当年的Everhot以“Built to last——为长久使用而制造”闻名"/>
          <p:cNvSpPr txBox="1"/>
          <p:nvPr/>
        </p:nvSpPr>
        <p:spPr>
          <a:xfrm>
            <a:off x="7982548" y="10179957"/>
            <a:ext cx="2305621" cy="81991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spcBef>
                <a:spcPts val="1500"/>
              </a:spcBef>
              <a:defRPr sz="1000">
                <a:solidFill>
                  <a:srgbClr val="767677"/>
                </a:solidFill>
              </a:defRPr>
            </a:pPr>
            <a:r>
              <a:t>Everhot品牌并入瑞美集团，建立热水炉百年传承体系。家族资料记载，当年的Everhot以</a:t>
            </a:r>
            <a:r>
              <a:rPr>
                <a:solidFill>
                  <a:srgbClr val="B02418"/>
                </a:solidFill>
              </a:rPr>
              <a:t>“Built to last——为长久使用而制造”闻名</a:t>
            </a:r>
            <a:endParaRPr>
              <a:solidFill>
                <a:srgbClr val="B02418"/>
              </a:solidFill>
            </a:endParaRPr>
          </a:p>
        </p:txBody>
      </p:sp>
      <p:pic>
        <p:nvPicPr>
          <p:cNvPr id="82" name="图像" descr="图像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6871" y="11156481"/>
            <a:ext cx="535941" cy="5359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3" name="直线连接符 14"/>
          <p:cNvSpPr/>
          <p:nvPr/>
        </p:nvSpPr>
        <p:spPr>
          <a:xfrm flipV="1">
            <a:off x="11034842" y="11411650"/>
            <a:ext cx="1" cy="1438534"/>
          </a:xfrm>
          <a:prstGeom prst="line">
            <a:avLst/>
          </a:prstGeom>
          <a:ln w="6350">
            <a:solidFill>
              <a:srgbClr val="767677"/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84" name="椭圆 15"/>
          <p:cNvSpPr/>
          <p:nvPr/>
        </p:nvSpPr>
        <p:spPr>
          <a:xfrm>
            <a:off x="10913450" y="12794581"/>
            <a:ext cx="242785" cy="242785"/>
          </a:xfrm>
          <a:prstGeom prst="ellipse">
            <a:avLst/>
          </a:prstGeom>
          <a:solidFill>
            <a:srgbClr val="767677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grpSp>
        <p:nvGrpSpPr>
          <p:cNvPr id="87" name="圆角矩形 16"/>
          <p:cNvGrpSpPr/>
          <p:nvPr/>
        </p:nvGrpSpPr>
        <p:grpSpPr>
          <a:xfrm>
            <a:off x="11305504" y="12036446"/>
            <a:ext cx="1070783" cy="400817"/>
            <a:chOff x="-188923" y="0"/>
            <a:chExt cx="1070782" cy="400815"/>
          </a:xfrm>
        </p:grpSpPr>
        <p:sp>
          <p:nvSpPr>
            <p:cNvPr id="85" name="圆角矩形"/>
            <p:cNvSpPr/>
            <p:nvPr/>
          </p:nvSpPr>
          <p:spPr>
            <a:xfrm>
              <a:off x="-174897" y="33253"/>
              <a:ext cx="1042729" cy="334309"/>
            </a:xfrm>
            <a:prstGeom prst="roundRect">
              <a:avLst>
                <a:gd name="adj" fmla="val 50000"/>
              </a:avLst>
            </a:prstGeom>
            <a:solidFill>
              <a:srgbClr val="76767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4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FFFFFF"/>
                  </a:solid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86" name="1994"/>
            <p:cNvSpPr txBox="1"/>
            <p:nvPr/>
          </p:nvSpPr>
          <p:spPr>
            <a:xfrm>
              <a:off x="-188924" y="-1"/>
              <a:ext cx="1070783" cy="4008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algn="ctr" defTabSz="914400">
                <a:lnSpc>
                  <a:spcPct val="100000"/>
                </a:lnSpc>
                <a:spcBef>
                  <a:spcPts val="0"/>
                </a:spcBef>
                <a:defRPr sz="1500">
                  <a:solidFill>
                    <a:srgbClr val="FFFFFF"/>
                  </a:solid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lvl1pPr>
            </a:lstStyle>
            <a:p>
              <a:r>
                <a:t>1994</a:t>
              </a:r>
            </a:p>
          </p:txBody>
        </p:sp>
      </p:grpSp>
      <p:sp>
        <p:nvSpPr>
          <p:cNvPr id="88" name="瑞美集团以恒热品牌进入中国，引领中国容积式品类行业发展"/>
          <p:cNvSpPr txBox="1"/>
          <p:nvPr/>
        </p:nvSpPr>
        <p:spPr>
          <a:xfrm>
            <a:off x="11336804" y="12447386"/>
            <a:ext cx="1551819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1500"/>
              </a:spcBef>
              <a:defRPr sz="1000">
                <a:solidFill>
                  <a:srgbClr val="767677"/>
                </a:solidFill>
              </a:defRPr>
            </a:lvl1pPr>
          </a:lstStyle>
          <a:p>
            <a:r>
              <a:t>瑞美集团以恒热品牌进入中国，引领中国容积式品类行业发展</a:t>
            </a:r>
          </a:p>
        </p:txBody>
      </p:sp>
      <p:sp>
        <p:nvSpPr>
          <p:cNvPr id="89" name="直线连接符 14"/>
          <p:cNvSpPr/>
          <p:nvPr/>
        </p:nvSpPr>
        <p:spPr>
          <a:xfrm flipV="1">
            <a:off x="13844361" y="9870646"/>
            <a:ext cx="1" cy="1438534"/>
          </a:xfrm>
          <a:prstGeom prst="line">
            <a:avLst/>
          </a:prstGeom>
          <a:ln w="6350">
            <a:solidFill>
              <a:srgbClr val="767677"/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90" name="椭圆 15"/>
          <p:cNvSpPr/>
          <p:nvPr/>
        </p:nvSpPr>
        <p:spPr>
          <a:xfrm>
            <a:off x="13722970" y="9811540"/>
            <a:ext cx="242785" cy="242785"/>
          </a:xfrm>
          <a:prstGeom prst="ellipse">
            <a:avLst/>
          </a:prstGeom>
          <a:solidFill>
            <a:srgbClr val="767677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91" name="图像" descr="图像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63768" y="11156481"/>
            <a:ext cx="535942" cy="5359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94" name="圆角矩形 16"/>
          <p:cNvGrpSpPr/>
          <p:nvPr/>
        </p:nvGrpSpPr>
        <p:grpSpPr>
          <a:xfrm>
            <a:off x="14147780" y="9763096"/>
            <a:ext cx="1070783" cy="400816"/>
            <a:chOff x="-188923" y="0"/>
            <a:chExt cx="1070782" cy="400815"/>
          </a:xfrm>
        </p:grpSpPr>
        <p:sp>
          <p:nvSpPr>
            <p:cNvPr id="92" name="圆角矩形"/>
            <p:cNvSpPr/>
            <p:nvPr/>
          </p:nvSpPr>
          <p:spPr>
            <a:xfrm>
              <a:off x="-174897" y="33253"/>
              <a:ext cx="1042729" cy="334309"/>
            </a:xfrm>
            <a:prstGeom prst="roundRect">
              <a:avLst>
                <a:gd name="adj" fmla="val 50000"/>
              </a:avLst>
            </a:prstGeom>
            <a:solidFill>
              <a:srgbClr val="76767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4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FFFFFF"/>
                  </a:solid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93" name="2010"/>
            <p:cNvSpPr txBox="1"/>
            <p:nvPr/>
          </p:nvSpPr>
          <p:spPr>
            <a:xfrm>
              <a:off x="-188924" y="-1"/>
              <a:ext cx="1070783" cy="4008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algn="ctr" defTabSz="914400">
                <a:lnSpc>
                  <a:spcPct val="100000"/>
                </a:lnSpc>
                <a:spcBef>
                  <a:spcPts val="0"/>
                </a:spcBef>
                <a:defRPr sz="1500">
                  <a:solidFill>
                    <a:srgbClr val="FFFFFF"/>
                  </a:solid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lvl1pPr>
            </a:lstStyle>
            <a:p>
              <a:r>
                <a:t>2010</a:t>
              </a:r>
            </a:p>
          </p:txBody>
        </p:sp>
      </p:grpSp>
      <p:sp>
        <p:nvSpPr>
          <p:cNvPr id="95" name="瑞美(中国)荣耀独资。在中国市场正式开启Rheem、EVERHOT、RUUD等多品牌运营模式"/>
          <p:cNvSpPr txBox="1"/>
          <p:nvPr/>
        </p:nvSpPr>
        <p:spPr>
          <a:xfrm>
            <a:off x="14153681" y="10185108"/>
            <a:ext cx="2305621" cy="64211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spcBef>
                <a:spcPts val="1500"/>
              </a:spcBef>
              <a:defRPr sz="1000">
                <a:solidFill>
                  <a:srgbClr val="767677"/>
                </a:solidFill>
              </a:defRPr>
            </a:pPr>
            <a:r>
              <a:t>瑞美(中国)荣耀独资。在中国市场正式开启</a:t>
            </a:r>
            <a:r>
              <a:rPr>
                <a:solidFill>
                  <a:srgbClr val="B02418"/>
                </a:solidFill>
              </a:rPr>
              <a:t>Rheem、EVERHOT、RUUD</a:t>
            </a:r>
            <a:r>
              <a:t>等多品牌运营模式</a:t>
            </a:r>
          </a:p>
        </p:txBody>
      </p:sp>
      <p:pic>
        <p:nvPicPr>
          <p:cNvPr id="96" name="图像" descr="图像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74848" y="11156481"/>
            <a:ext cx="535942" cy="5359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7" name="直线连接符 14"/>
          <p:cNvSpPr/>
          <p:nvPr/>
        </p:nvSpPr>
        <p:spPr>
          <a:xfrm flipV="1">
            <a:off x="16842818" y="11411650"/>
            <a:ext cx="1" cy="1438534"/>
          </a:xfrm>
          <a:prstGeom prst="line">
            <a:avLst/>
          </a:prstGeom>
          <a:ln w="6350">
            <a:solidFill>
              <a:srgbClr val="767677"/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98" name="椭圆 15"/>
          <p:cNvSpPr/>
          <p:nvPr/>
        </p:nvSpPr>
        <p:spPr>
          <a:xfrm>
            <a:off x="16721425" y="12794581"/>
            <a:ext cx="242785" cy="242785"/>
          </a:xfrm>
          <a:prstGeom prst="ellipse">
            <a:avLst/>
          </a:prstGeom>
          <a:solidFill>
            <a:srgbClr val="767677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grpSp>
        <p:nvGrpSpPr>
          <p:cNvPr id="101" name="圆角矩形 16"/>
          <p:cNvGrpSpPr/>
          <p:nvPr/>
        </p:nvGrpSpPr>
        <p:grpSpPr>
          <a:xfrm>
            <a:off x="17113480" y="11847259"/>
            <a:ext cx="1070783" cy="400817"/>
            <a:chOff x="-188923" y="0"/>
            <a:chExt cx="1070782" cy="400815"/>
          </a:xfrm>
        </p:grpSpPr>
        <p:sp>
          <p:nvSpPr>
            <p:cNvPr id="99" name="圆角矩形"/>
            <p:cNvSpPr/>
            <p:nvPr/>
          </p:nvSpPr>
          <p:spPr>
            <a:xfrm>
              <a:off x="-174897" y="33253"/>
              <a:ext cx="1042729" cy="334309"/>
            </a:xfrm>
            <a:prstGeom prst="roundRect">
              <a:avLst>
                <a:gd name="adj" fmla="val 50000"/>
              </a:avLst>
            </a:prstGeom>
            <a:solidFill>
              <a:srgbClr val="76767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4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FFFFFF"/>
                  </a:solid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100" name="2020"/>
            <p:cNvSpPr txBox="1"/>
            <p:nvPr/>
          </p:nvSpPr>
          <p:spPr>
            <a:xfrm>
              <a:off x="-188924" y="-1"/>
              <a:ext cx="1070783" cy="4008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algn="ctr" defTabSz="914400">
                <a:lnSpc>
                  <a:spcPct val="100000"/>
                </a:lnSpc>
                <a:spcBef>
                  <a:spcPts val="0"/>
                </a:spcBef>
                <a:defRPr sz="1500">
                  <a:solidFill>
                    <a:srgbClr val="FFFFFF"/>
                  </a:solid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102" name="作为主要起草单位全程参与制定《燃气容积式热水器》国标，进一步推动China for Global全球化战略，中国研发热泵反向出口澳洲等多个国家"/>
          <p:cNvSpPr txBox="1"/>
          <p:nvPr/>
        </p:nvSpPr>
        <p:spPr>
          <a:xfrm>
            <a:off x="17144781" y="12258200"/>
            <a:ext cx="2439913" cy="81991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spcBef>
                <a:spcPts val="1500"/>
              </a:spcBef>
              <a:defRPr sz="1000">
                <a:solidFill>
                  <a:srgbClr val="767677"/>
                </a:solidFill>
              </a:defRPr>
            </a:pPr>
            <a:r>
              <a:t>作为主要起草单位全程参与制定</a:t>
            </a:r>
            <a:r>
              <a:rPr>
                <a:solidFill>
                  <a:srgbClr val="A52E2D"/>
                </a:solidFill>
              </a:rPr>
              <a:t>《燃气容积式热水器》国标</a:t>
            </a:r>
            <a:r>
              <a:t>，进一步推动China for Global全球化战略，中国研发热泵反向出口澳洲等多个国家</a:t>
            </a:r>
          </a:p>
        </p:txBody>
      </p:sp>
      <p:pic>
        <p:nvPicPr>
          <p:cNvPr id="103" name="图像" descr="图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29657" y="11156483"/>
            <a:ext cx="535942" cy="53594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06" name="圆角矩形 16"/>
          <p:cNvGrpSpPr/>
          <p:nvPr/>
        </p:nvGrpSpPr>
        <p:grpSpPr>
          <a:xfrm>
            <a:off x="20314989" y="9753603"/>
            <a:ext cx="1070783" cy="400817"/>
            <a:chOff x="-188923" y="0"/>
            <a:chExt cx="1070782" cy="400815"/>
          </a:xfrm>
        </p:grpSpPr>
        <p:sp>
          <p:nvSpPr>
            <p:cNvPr id="104" name="圆角矩形"/>
            <p:cNvSpPr/>
            <p:nvPr/>
          </p:nvSpPr>
          <p:spPr>
            <a:xfrm>
              <a:off x="-174897" y="33253"/>
              <a:ext cx="1042729" cy="33430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4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FFFFFF"/>
                  </a:solid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105" name="2025"/>
            <p:cNvSpPr txBox="1"/>
            <p:nvPr/>
          </p:nvSpPr>
          <p:spPr>
            <a:xfrm>
              <a:off x="-188924" y="-1"/>
              <a:ext cx="1070783" cy="4008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algn="ctr" defTabSz="914400">
                <a:lnSpc>
                  <a:spcPct val="100000"/>
                </a:lnSpc>
                <a:spcBef>
                  <a:spcPts val="0"/>
                </a:spcBef>
                <a:defRPr sz="1500">
                  <a:solidFill>
                    <a:srgbClr val="FFFFFF"/>
                  </a:solid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lvl1pPr>
            </a:lstStyle>
            <a:p>
              <a:r>
                <a:t>2025</a:t>
              </a:r>
            </a:p>
          </p:txBody>
        </p:sp>
      </p:grpSp>
      <p:sp>
        <p:nvSpPr>
          <p:cNvPr id="107" name="瑞合瑞德集团接棒恒热，独创全球首款燃气热泵混动容积式，技术推向新高度"/>
          <p:cNvSpPr txBox="1"/>
          <p:nvPr/>
        </p:nvSpPr>
        <p:spPr>
          <a:xfrm>
            <a:off x="20320889" y="10272413"/>
            <a:ext cx="2185294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spcBef>
                <a:spcPts val="1500"/>
              </a:spcBef>
              <a:defRPr sz="1000"/>
            </a:pPr>
            <a:r>
              <a:rPr>
                <a:solidFill>
                  <a:srgbClr val="7A7A7B"/>
                </a:solidFill>
              </a:rPr>
              <a:t>瑞合瑞德集团接棒恒热，</a:t>
            </a:r>
            <a:r>
              <a:rPr>
                <a:solidFill>
                  <a:srgbClr val="B02418"/>
                </a:solidFill>
              </a:rPr>
              <a:t>独创全球首款燃气热泵混动容积式</a:t>
            </a:r>
            <a:r>
              <a:rPr>
                <a:solidFill>
                  <a:srgbClr val="767677"/>
                </a:solidFill>
              </a:rPr>
              <a:t>，技术推向新高度</a:t>
            </a:r>
            <a:endParaRPr>
              <a:solidFill>
                <a:srgbClr val="767677"/>
              </a:solidFill>
            </a:endParaRPr>
          </a:p>
        </p:txBody>
      </p:sp>
      <p:sp>
        <p:nvSpPr>
          <p:cNvPr id="108" name="直线连接符 14"/>
          <p:cNvSpPr/>
          <p:nvPr/>
        </p:nvSpPr>
        <p:spPr>
          <a:xfrm flipV="1">
            <a:off x="20097629" y="10003982"/>
            <a:ext cx="1" cy="1438534"/>
          </a:xfrm>
          <a:prstGeom prst="line">
            <a:avLst/>
          </a:prstGeom>
          <a:ln w="6350">
            <a:solidFill>
              <a:srgbClr val="C00000"/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09" name="椭圆 15"/>
          <p:cNvSpPr/>
          <p:nvPr/>
        </p:nvSpPr>
        <p:spPr>
          <a:xfrm>
            <a:off x="19976236" y="9811542"/>
            <a:ext cx="242785" cy="242785"/>
          </a:xfrm>
          <a:prstGeom prst="ellips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10" name="BRAND HISTORY"/>
          <p:cNvSpPr txBox="1"/>
          <p:nvPr/>
        </p:nvSpPr>
        <p:spPr>
          <a:xfrm>
            <a:off x="1220427" y="940080"/>
            <a:ext cx="3794015" cy="595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3500" b="1">
                <a:solidFill>
                  <a:srgbClr val="B0241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BRAND HISTORY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图片 6" descr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高效中央热水解决方案引领者"/>
          <p:cNvSpPr txBox="1"/>
          <p:nvPr/>
        </p:nvSpPr>
        <p:spPr>
          <a:xfrm>
            <a:off x="1840290" y="3763469"/>
            <a:ext cx="6459645" cy="57912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defTabSz="914400">
              <a:lnSpc>
                <a:spcPts val="3000"/>
              </a:lnSpc>
              <a:spcBef>
                <a:spcPts val="0"/>
              </a:spcBef>
              <a:defRPr sz="4000" b="1" spc="-156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高效中央热水解决方案引领者</a:t>
            </a:r>
          </a:p>
        </p:txBody>
      </p:sp>
      <p:sp>
        <p:nvSpPr>
          <p:cNvPr id="114" name="INDUSTRY LEADER"/>
          <p:cNvSpPr txBox="1"/>
          <p:nvPr/>
        </p:nvSpPr>
        <p:spPr>
          <a:xfrm>
            <a:off x="1890110" y="2583538"/>
            <a:ext cx="7311629" cy="95297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6000" b="1">
                <a:solidFill>
                  <a:srgbClr val="B0241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INDUSTRY LEADER</a:t>
            </a:r>
          </a:p>
        </p:txBody>
      </p:sp>
      <p:pic>
        <p:nvPicPr>
          <p:cNvPr id="115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4846" y="896544"/>
            <a:ext cx="3128951" cy="11358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6" name="直线连接符 4"/>
          <p:cNvSpPr/>
          <p:nvPr/>
        </p:nvSpPr>
        <p:spPr>
          <a:xfrm flipV="1">
            <a:off x="2143542" y="4890570"/>
            <a:ext cx="1" cy="6193909"/>
          </a:xfrm>
          <a:prstGeom prst="line">
            <a:avLst/>
          </a:prstGeom>
          <a:ln w="12700">
            <a:solidFill>
              <a:srgbClr val="FFFFFF"/>
            </a:solidFill>
            <a:miter/>
          </a:ln>
        </p:spPr>
        <p:txBody>
          <a:bodyPr tIns="91439" bIns="91439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17" name="椭圆 5"/>
          <p:cNvSpPr/>
          <p:nvPr/>
        </p:nvSpPr>
        <p:spPr>
          <a:xfrm rot="10800000" flipH="1">
            <a:off x="1960222" y="5248409"/>
            <a:ext cx="336641" cy="33664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tIns="91439" bIns="91439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18" name="文本框 7"/>
          <p:cNvSpPr txBox="1"/>
          <p:nvPr/>
        </p:nvSpPr>
        <p:spPr>
          <a:xfrm>
            <a:off x="2618312" y="5202109"/>
            <a:ext cx="5182551" cy="1389889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spAutoFit/>
          </a:bodyPr>
          <a:lstStyle/>
          <a:p>
            <a:pPr defTabSz="1828800">
              <a:lnSpc>
                <a:spcPts val="3200"/>
              </a:lnSpc>
              <a:spcBef>
                <a:spcPts val="0"/>
              </a:spcBef>
              <a:defRPr sz="4000">
                <a:solidFill>
                  <a:srgbClr val="FFFFFF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  <a:r>
              <a:t>1925</a:t>
            </a:r>
          </a:p>
          <a:p>
            <a:pPr defTabSz="1828800">
              <a:lnSpc>
                <a:spcPts val="32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行业开创者</a:t>
            </a:r>
          </a:p>
          <a:p>
            <a:pPr defTabSz="1828800">
              <a:lnSpc>
                <a:spcPts val="3200"/>
              </a:lnSpc>
              <a:spcBef>
                <a:spcPts val="0"/>
              </a:spcBef>
              <a:defRPr sz="1600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第一代容积式热水器问世，改变大宅家庭热水供应难题</a:t>
            </a:r>
          </a:p>
        </p:txBody>
      </p:sp>
      <p:sp>
        <p:nvSpPr>
          <p:cNvPr id="119" name="椭圆 15"/>
          <p:cNvSpPr/>
          <p:nvPr/>
        </p:nvSpPr>
        <p:spPr>
          <a:xfrm rot="10800000" flipH="1">
            <a:off x="1960222" y="7101841"/>
            <a:ext cx="336641" cy="33664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tIns="91439" bIns="91439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20" name="文本框 16"/>
          <p:cNvSpPr txBox="1"/>
          <p:nvPr/>
        </p:nvSpPr>
        <p:spPr>
          <a:xfrm>
            <a:off x="2618312" y="7055541"/>
            <a:ext cx="5946475" cy="1389889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spAutoFit/>
          </a:bodyPr>
          <a:lstStyle/>
          <a:p>
            <a:pPr defTabSz="1828800">
              <a:lnSpc>
                <a:spcPts val="3200"/>
              </a:lnSpc>
              <a:spcBef>
                <a:spcPts val="0"/>
              </a:spcBef>
              <a:defRPr sz="4000">
                <a:solidFill>
                  <a:srgbClr val="FFFFFF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  <a:r>
              <a:t>1994</a:t>
            </a:r>
          </a:p>
          <a:p>
            <a:pPr defTabSz="1828800">
              <a:lnSpc>
                <a:spcPts val="32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行业标准制定者</a:t>
            </a:r>
          </a:p>
          <a:p>
            <a:pPr defTabSz="1828800">
              <a:lnSpc>
                <a:spcPts val="3200"/>
              </a:lnSpc>
              <a:spcBef>
                <a:spcPts val="0"/>
              </a:spcBef>
              <a:defRPr sz="1600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引领全球技术标准，推动中国国标制定，奠定产品稳定性基石</a:t>
            </a:r>
          </a:p>
        </p:txBody>
      </p:sp>
      <p:sp>
        <p:nvSpPr>
          <p:cNvPr id="121" name="椭圆 17"/>
          <p:cNvSpPr/>
          <p:nvPr/>
        </p:nvSpPr>
        <p:spPr>
          <a:xfrm rot="10800000" flipH="1">
            <a:off x="1960222" y="9122391"/>
            <a:ext cx="336641" cy="336641"/>
          </a:xfrm>
          <a:prstGeom prst="ellipse">
            <a:avLst/>
          </a:prstGeom>
          <a:solidFill>
            <a:srgbClr val="C00000"/>
          </a:solidFill>
          <a:ln w="12700">
            <a:miter lim="400000"/>
          </a:ln>
        </p:spPr>
        <p:txBody>
          <a:bodyPr tIns="91439" bIns="91439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22" name="文本框 18"/>
          <p:cNvSpPr txBox="1"/>
          <p:nvPr/>
        </p:nvSpPr>
        <p:spPr>
          <a:xfrm>
            <a:off x="2618310" y="9076090"/>
            <a:ext cx="9557783" cy="1389890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spAutoFit/>
          </a:bodyPr>
          <a:lstStyle/>
          <a:p>
            <a:pPr defTabSz="1828800">
              <a:lnSpc>
                <a:spcPts val="3200"/>
              </a:lnSpc>
              <a:spcBef>
                <a:spcPts val="0"/>
              </a:spcBef>
              <a:defRPr sz="4000">
                <a:solidFill>
                  <a:srgbClr val="C00000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  <a:r>
              <a:t>2025</a:t>
            </a:r>
          </a:p>
          <a:p>
            <a:pPr defTabSz="1828800">
              <a:lnSpc>
                <a:spcPts val="32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全球首创专利双擎混动技术及行业高效中央热水解决方案引领者</a:t>
            </a:r>
          </a:p>
          <a:p>
            <a:pPr defTabSz="1828800">
              <a:lnSpc>
                <a:spcPts val="3200"/>
              </a:lnSpc>
              <a:spcBef>
                <a:spcPts val="0"/>
              </a:spcBef>
              <a:defRPr sz="1600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基于全球首创专利双擎混动技术，恒热推出行业首创混动容积式热水器，再一次重新定义热水体验</a:t>
            </a:r>
          </a:p>
        </p:txBody>
      </p:sp>
      <p:sp>
        <p:nvSpPr>
          <p:cNvPr id="123" name="文本框 19"/>
          <p:cNvSpPr txBox="1"/>
          <p:nvPr/>
        </p:nvSpPr>
        <p:spPr>
          <a:xfrm>
            <a:off x="2863856" y="10568581"/>
            <a:ext cx="5349541" cy="553996"/>
          </a:xfrm>
          <a:prstGeom prst="rect">
            <a:avLst/>
          </a:prstGeom>
          <a:ln w="12700">
            <a:miter lim="400000"/>
          </a:ln>
        </p:spPr>
        <p:txBody>
          <a:bodyPr wrap="none" tIns="91439" bIns="91439">
            <a:sp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2400" b="1" spc="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dirty="0" err="1"/>
              <a:t>更高</a:t>
            </a:r>
            <a:r>
              <a:rPr lang="zh-CN" altLang="en-US" dirty="0"/>
              <a:t>效</a:t>
            </a:r>
            <a:r>
              <a:rPr dirty="0"/>
              <a:t>|</a:t>
            </a:r>
            <a:r>
              <a:rPr dirty="0" err="1"/>
              <a:t>更舒适|更稳定</a:t>
            </a:r>
            <a:r>
              <a:rPr lang="en-US" altLang="zh-CN" dirty="0"/>
              <a:t>|</a:t>
            </a:r>
            <a:r>
              <a:rPr lang="zh-CN" altLang="en-US" dirty="0"/>
              <a:t>更节能</a:t>
            </a:r>
            <a:endParaRPr dirty="0"/>
          </a:p>
        </p:txBody>
      </p:sp>
      <p:sp>
        <p:nvSpPr>
          <p:cNvPr id="124" name="圆角矩形 20"/>
          <p:cNvSpPr/>
          <p:nvPr/>
        </p:nvSpPr>
        <p:spPr>
          <a:xfrm>
            <a:off x="2726066" y="10592601"/>
            <a:ext cx="5452245" cy="555379"/>
          </a:xfrm>
          <a:prstGeom prst="roundRect">
            <a:avLst>
              <a:gd name="adj" fmla="val 20207"/>
            </a:avLst>
          </a:prstGeom>
          <a:ln w="25400">
            <a:solidFill>
              <a:srgbClr val="FFFFFF"/>
            </a:solidFill>
            <a:miter/>
          </a:ln>
        </p:spPr>
        <p:txBody>
          <a:bodyPr tIns="91439" bIns="91439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图片 9" descr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7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4846" y="896544"/>
            <a:ext cx="3128951" cy="11358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8" name="Text 0"/>
          <p:cNvSpPr txBox="1"/>
          <p:nvPr/>
        </p:nvSpPr>
        <p:spPr>
          <a:xfrm>
            <a:off x="1593598" y="2682159"/>
            <a:ext cx="23012401" cy="533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以国标规范为安全底线，以五星酒店体验为舒适标杆</a:t>
            </a:r>
          </a:p>
        </p:txBody>
      </p:sp>
      <p:sp>
        <p:nvSpPr>
          <p:cNvPr id="129" name="Text 1"/>
          <p:cNvSpPr txBox="1"/>
          <p:nvPr/>
        </p:nvSpPr>
        <p:spPr>
          <a:xfrm>
            <a:off x="1624998" y="1874941"/>
            <a:ext cx="18111218" cy="800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defTabSz="1828800">
              <a:spcBef>
                <a:spcPts val="0"/>
              </a:spcBef>
              <a:defRPr sz="45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什么才是好的</a:t>
            </a:r>
            <a:r>
              <a:rPr>
                <a:solidFill>
                  <a:srgbClr val="C00000"/>
                </a:solidFill>
              </a:rPr>
              <a:t>别墅级热水系统?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30" name="文本框 5"/>
          <p:cNvSpPr txBox="1"/>
          <p:nvPr/>
        </p:nvSpPr>
        <p:spPr>
          <a:xfrm>
            <a:off x="1586661" y="3405378"/>
            <a:ext cx="8967216" cy="1804925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spAutoFit/>
          </a:bodyPr>
          <a:lstStyle/>
          <a:p>
            <a:pPr algn="just" defTabSz="1828800">
              <a:lnSpc>
                <a:spcPts val="3200"/>
              </a:lnSpc>
              <a:spcBef>
                <a:spcPts val="2400"/>
              </a:spcBef>
              <a:defRPr sz="18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以国际公认的行业标准为基准，一套好的热水系统必须首先满足美国安全与能效规范(强制性法律标准)，其次要达到五星级酒店的舒z适与可靠标准(高端商业实践标准)。这两者分别定义了系统的“底线”与“上限”。真正卓越的热水系统，必须同时满足这两大标准体系，缺一不可。</a:t>
            </a:r>
          </a:p>
        </p:txBody>
      </p:sp>
      <p:sp>
        <p:nvSpPr>
          <p:cNvPr id="131" name="Text 0"/>
          <p:cNvSpPr txBox="1"/>
          <p:nvPr/>
        </p:nvSpPr>
        <p:spPr>
          <a:xfrm>
            <a:off x="1588429" y="5940639"/>
            <a:ext cx="7540754" cy="533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美国热水供水标准确立安全与健康的底线</a:t>
            </a:r>
          </a:p>
        </p:txBody>
      </p:sp>
      <p:pic>
        <p:nvPicPr>
          <p:cNvPr id="132" name="图片 8" descr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222" y="9439853"/>
            <a:ext cx="720001" cy="720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33" name="图片 10" descr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121" y="9439853"/>
            <a:ext cx="720001" cy="720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34" name="图片 12" descr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020" y="9439853"/>
            <a:ext cx="720001" cy="720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35" name="图片 14" descr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9222" y="6808728"/>
            <a:ext cx="720001" cy="720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36" name="图片 16" descr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0121" y="6808728"/>
            <a:ext cx="720001" cy="720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37" name="图片 18" descr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1020" y="6808728"/>
            <a:ext cx="720001" cy="720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8" name="文本框 19"/>
          <p:cNvSpPr txBox="1"/>
          <p:nvPr/>
        </p:nvSpPr>
        <p:spPr>
          <a:xfrm>
            <a:off x="1273549" y="7799918"/>
            <a:ext cx="2194943" cy="1292660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spAutoFit/>
          </a:bodyPr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dirty="0" err="1"/>
              <a:t>水温</a:t>
            </a:r>
            <a:endParaRPr dirty="0"/>
          </a:p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en-US" dirty="0"/>
              <a:t>15</a:t>
            </a:r>
            <a:r>
              <a:rPr lang="en-US" altLang="zh-CN" dirty="0"/>
              <a:t>S</a:t>
            </a:r>
            <a:r>
              <a:rPr lang="zh-CN" altLang="en-US" dirty="0"/>
              <a:t>内</a:t>
            </a:r>
            <a:r>
              <a:rPr dirty="0" err="1"/>
              <a:t>配水点水温达到</a:t>
            </a:r>
            <a:endParaRPr dirty="0"/>
          </a:p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en-US" dirty="0"/>
              <a:t>46</a:t>
            </a:r>
            <a:r>
              <a:rPr dirty="0"/>
              <a:t>°C-</a:t>
            </a:r>
            <a:r>
              <a:rPr lang="en-US" dirty="0"/>
              <a:t>51</a:t>
            </a:r>
            <a:r>
              <a:rPr dirty="0"/>
              <a:t>°C</a:t>
            </a:r>
            <a:endParaRPr dirty="0"/>
          </a:p>
        </p:txBody>
      </p:sp>
      <p:sp>
        <p:nvSpPr>
          <p:cNvPr id="139" name="文本框 21"/>
          <p:cNvSpPr txBox="1"/>
          <p:nvPr/>
        </p:nvSpPr>
        <p:spPr>
          <a:xfrm>
            <a:off x="3972651" y="7863418"/>
            <a:ext cx="2194943" cy="1135381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spAutoFit/>
          </a:bodyPr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dirty="0" err="1"/>
              <a:t>时间</a:t>
            </a:r>
            <a:endParaRPr dirty="0"/>
          </a:p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dirty="0" err="1"/>
              <a:t>出热水时间</a:t>
            </a:r>
            <a:endParaRPr dirty="0"/>
          </a:p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dirty="0"/>
              <a:t>5-8秒</a:t>
            </a:r>
            <a:endParaRPr dirty="0"/>
          </a:p>
        </p:txBody>
      </p:sp>
      <p:sp>
        <p:nvSpPr>
          <p:cNvPr id="140" name="文本框 23"/>
          <p:cNvSpPr txBox="1"/>
          <p:nvPr/>
        </p:nvSpPr>
        <p:spPr>
          <a:xfrm>
            <a:off x="6671754" y="7882468"/>
            <a:ext cx="2194942" cy="1015661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spAutoFit/>
          </a:bodyPr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dirty="0" err="1"/>
              <a:t>出水点压力</a:t>
            </a:r>
            <a:endParaRPr dirty="0"/>
          </a:p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rPr>
              <a:t>0.2MPa</a:t>
            </a:r>
            <a:r>
              <a:rPr lang="en-US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rPr>
              <a:t>-0.35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rPr>
              <a:t>MPa</a:t>
            </a:r>
            <a:endParaRPr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微软雅黑 Light" panose="020B0502040204020203" charset="-122"/>
            </a:endParaRPr>
          </a:p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dirty="0" err="1"/>
              <a:t>水流充足</a:t>
            </a:r>
            <a:endParaRPr dirty="0"/>
          </a:p>
        </p:txBody>
      </p:sp>
      <p:sp>
        <p:nvSpPr>
          <p:cNvPr id="141" name="文本框 27"/>
          <p:cNvSpPr txBox="1"/>
          <p:nvPr/>
        </p:nvSpPr>
        <p:spPr>
          <a:xfrm>
            <a:off x="1059237" y="10388178"/>
            <a:ext cx="2623567" cy="1135381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spAutoFit/>
          </a:bodyPr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dirty="0" err="1"/>
              <a:t>水质硬度</a:t>
            </a:r>
            <a:endParaRPr dirty="0"/>
          </a:p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dirty="0"/>
              <a:t>客房用水≤150mg/L</a:t>
            </a:r>
            <a:endParaRPr dirty="0"/>
          </a:p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dirty="0"/>
              <a:t>洗衣房用水≤30mg/L</a:t>
            </a:r>
            <a:endParaRPr dirty="0"/>
          </a:p>
        </p:txBody>
      </p:sp>
      <p:sp>
        <p:nvSpPr>
          <p:cNvPr id="142" name="文本框 28"/>
          <p:cNvSpPr txBox="1"/>
          <p:nvPr/>
        </p:nvSpPr>
        <p:spPr>
          <a:xfrm>
            <a:off x="3653636" y="10388178"/>
            <a:ext cx="2832971" cy="1452881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spAutoFit/>
          </a:bodyPr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dirty="0" err="1"/>
              <a:t>储水保障</a:t>
            </a:r>
            <a:endParaRPr dirty="0"/>
          </a:p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dirty="0"/>
              <a:t>按每客房400-800L计算</a:t>
            </a:r>
            <a:endParaRPr dirty="0"/>
          </a:p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dirty="0"/>
              <a:t>或储存12-24小时</a:t>
            </a:r>
            <a:endParaRPr dirty="0"/>
          </a:p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dirty="0" err="1"/>
              <a:t>正常用水量</a:t>
            </a:r>
            <a:endParaRPr dirty="0"/>
          </a:p>
        </p:txBody>
      </p:sp>
      <p:sp>
        <p:nvSpPr>
          <p:cNvPr id="143" name="文本框 29"/>
          <p:cNvSpPr txBox="1"/>
          <p:nvPr/>
        </p:nvSpPr>
        <p:spPr>
          <a:xfrm>
            <a:off x="6352737" y="10388178"/>
            <a:ext cx="2832971" cy="1452881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spAutoFit/>
          </a:bodyPr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水处理工艺</a:t>
            </a:r>
          </a:p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基础流程:</a:t>
            </a:r>
          </a:p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市政水&gt;过滤&gt;软化&gt;消毒</a:t>
            </a:r>
          </a:p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(紫外线/氯)&gt;分区供水</a:t>
            </a:r>
          </a:p>
        </p:txBody>
      </p:sp>
      <p:sp>
        <p:nvSpPr>
          <p:cNvPr id="144" name="文本框 30"/>
          <p:cNvSpPr txBox="1"/>
          <p:nvPr/>
        </p:nvSpPr>
        <p:spPr>
          <a:xfrm>
            <a:off x="7576844" y="11889702"/>
            <a:ext cx="16563939" cy="741681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spAutoFit/>
          </a:bodyPr>
          <a:lstStyle/>
          <a:p>
            <a:pPr algn="r" defTabSz="18288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*以上标准综合自《中华人民共和国国家标准·旅游饭店星级的划分与评定》、《国际酒店管理集团技术标准》、《国际酒店管理集团工程手册》</a:t>
            </a:r>
          </a:p>
          <a:p>
            <a:pPr algn="r" defTabSz="18288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以及万豪、希尔顿等国际酒店管理集团的工程与设计标准。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文本框 4"/>
          <p:cNvSpPr txBox="1"/>
          <p:nvPr/>
        </p:nvSpPr>
        <p:spPr>
          <a:xfrm>
            <a:off x="1596472" y="1325010"/>
            <a:ext cx="10897873" cy="980437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5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>
                <a:solidFill>
                  <a:srgbClr val="AF2D2C"/>
                </a:solidFill>
              </a:rPr>
              <a:t>HART3.0</a:t>
            </a:r>
            <a:r>
              <a:t> 别墅热水四维标准</a:t>
            </a:r>
          </a:p>
        </p:txBody>
      </p:sp>
      <p:sp>
        <p:nvSpPr>
          <p:cNvPr id="147" name="文本框 4"/>
          <p:cNvSpPr txBox="1"/>
          <p:nvPr/>
        </p:nvSpPr>
        <p:spPr>
          <a:xfrm>
            <a:off x="1596472" y="2305834"/>
            <a:ext cx="15979990" cy="624837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>
            <a:lvl1pPr defTabSz="914400">
              <a:lnSpc>
                <a:spcPct val="100000"/>
              </a:lnSpc>
              <a:spcBef>
                <a:spcPts val="0"/>
              </a:spcBef>
              <a:defRPr sz="3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定位：别墅热水不是一台热水器，是一套系统。HART 3.0从热源到末端，四个维度缺一不可。</a:t>
            </a:r>
          </a:p>
        </p:txBody>
      </p:sp>
      <p:graphicFrame>
        <p:nvGraphicFramePr>
          <p:cNvPr id="148" name="表格 1"/>
          <p:cNvGraphicFramePr/>
          <p:nvPr/>
        </p:nvGraphicFramePr>
        <p:xfrm>
          <a:off x="1669206" y="4076078"/>
          <a:ext cx="21045584" cy="7261190"/>
        </p:xfrm>
        <a:graphic>
          <a:graphicData uri="http://schemas.openxmlformats.org/drawingml/2006/table">
            <a:tbl>
              <a:tblPr firstRow="1" firstCol="1">
                <a:tableStyleId>{2708684C-4D16-4618-839F-0558EEFCDFE6}</a:tableStyleId>
              </a:tblPr>
              <a:tblGrid>
                <a:gridCol w="5261396"/>
                <a:gridCol w="5261396"/>
                <a:gridCol w="5261396"/>
                <a:gridCol w="5261396"/>
              </a:tblGrid>
              <a:tr h="1452238">
                <a:tc>
                  <a:txBody>
                    <a:bodyPr/>
                    <a:lstStyle/>
                    <a:p>
                      <a:pPr defTabSz="1828800">
                        <a:defRPr b="0"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维度</a:t>
                      </a:r>
                      <a:endParaRPr sz="3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C6C6C"/>
                      </a:solidFill>
                      <a:miter lim="400000"/>
                    </a:lnL>
                    <a:solidFill>
                      <a:srgbClr val="AF2D2C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>
                        <a:defRPr b="0"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英文</a:t>
                      </a:r>
                      <a:endParaRPr sz="3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AF2D2C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>
                        <a:defRPr b="0"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核心指标</a:t>
                      </a:r>
                      <a:endParaRPr sz="3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AF2D2C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>
                        <a:defRPr b="0"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不达标后果</a:t>
                      </a:r>
                      <a:endParaRPr sz="3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  <a:solidFill>
                      <a:srgbClr val="AF2D2C"/>
                    </a:solidFill>
                  </a:tcPr>
                </a:tc>
              </a:tr>
              <a:tr h="1452238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 b="1">
                          <a:solidFill>
                            <a:srgbClr val="AF2D2C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H</a:t>
                      </a:r>
                      <a:endParaRPr sz="3200" b="1">
                        <a:solidFill>
                          <a:srgbClr val="AF2D2C"/>
                        </a:solidFill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1828800">
                        <a:defRPr sz="2500" b="1">
                          <a:solidFill>
                            <a:srgbClr val="C00000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t>Heater</a:t>
                      </a:r>
                    </a:p>
                    <a:p>
                      <a:pPr defTabSz="1828800">
                        <a:defRPr sz="2500" b="1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defRPr>
                      </a:pPr>
                      <a:r>
                        <a:t>热源心脏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z="25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双能源混动，燃气&gt;50kW
热泵COP≥4.0，寿命≥20年</a:t>
                      </a:r>
                      <a:endParaRPr sz="2500" b="1"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z="25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热水不够、频繁故障、冬天罢工</a:t>
                      </a:r>
                      <a:endParaRPr sz="2500" b="1"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</a:tcPr>
                </a:tc>
              </a:tr>
              <a:tr h="1452238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 b="1">
                          <a:solidFill>
                            <a:srgbClr val="AF2D2C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A</a:t>
                      </a:r>
                      <a:endParaRPr sz="3200" b="1">
                        <a:solidFill>
                          <a:srgbClr val="AF2D2C"/>
                        </a:solidFill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z="2500" b="1">
                          <a:solidFill>
                            <a:srgbClr val="C00000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Artery
输配动脉</a:t>
                      </a:r>
                      <a:endParaRPr sz="2500" b="1">
                        <a:solidFill>
                          <a:srgbClr val="C00000"/>
                        </a:solidFill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z="25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主管口径&gt;DN32，增压泵扬程≥20m，循环覆盖全屋</a:t>
                      </a:r>
                      <a:endParaRPr sz="2500" b="1"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z="25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远端等水30秒、水压带不动花洒</a:t>
                      </a:r>
                      <a:endParaRPr sz="2500" b="1"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</a:tcPr>
                </a:tc>
              </a:tr>
              <a:tr h="1452238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 b="1">
                          <a:solidFill>
                            <a:srgbClr val="AF2D2C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R</a:t>
                      </a:r>
                      <a:endParaRPr sz="3200" b="1">
                        <a:solidFill>
                          <a:srgbClr val="AF2D2C"/>
                        </a:solidFill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z="2500" b="1">
                          <a:solidFill>
                            <a:srgbClr val="C00000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Release
末端释放</a:t>
                      </a:r>
                      <a:endParaRPr sz="2500" b="1">
                        <a:solidFill>
                          <a:srgbClr val="C00000"/>
                        </a:solidFill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z="25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即开即热，恒温恒压
支持8+用水点同时用水</a:t>
                      </a:r>
                      <a:endParaRPr sz="25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z="25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忽冷忽热、水流小、浴缸放不满</a:t>
                      </a:r>
                      <a:endParaRPr sz="25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</a:tcPr>
                </a:tc>
              </a:tr>
              <a:tr h="1452238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 b="1">
                          <a:solidFill>
                            <a:srgbClr val="AF2D2C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</a:t>
                      </a:r>
                      <a:endParaRPr sz="3200" b="1">
                        <a:solidFill>
                          <a:srgbClr val="AF2D2C"/>
                        </a:solidFill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C6C6C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z="2500" b="1">
                          <a:solidFill>
                            <a:srgbClr val="C00000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Treatment
水质治理</a:t>
                      </a:r>
                      <a:endParaRPr sz="2500" b="1">
                        <a:solidFill>
                          <a:srgbClr val="C00000"/>
                        </a:solidFill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C6C6C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z="25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前置过滤+软水/净水
保护设备与皮肤</a:t>
                      </a:r>
                      <a:endParaRPr sz="2500" b="1"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C6C6C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z="25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水垢堵管道、细菌滋生、皮肤干燥</a:t>
                      </a:r>
                      <a:endParaRPr sz="2500" b="1"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  <a:lnB w="12700">
                      <a:solidFill>
                        <a:srgbClr val="6C6C6C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pic>
        <p:nvPicPr>
          <p:cNvPr id="149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34846" y="896544"/>
            <a:ext cx="3128951" cy="1135849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图片 11" descr="图片 11"/>
          <p:cNvPicPr>
            <a:picLocks noChangeAspect="1"/>
          </p:cNvPicPr>
          <p:nvPr/>
        </p:nvPicPr>
        <p:blipFill>
          <a:blip r:embed="rId1"/>
          <a:srcRect l="390" r="8286" b="8676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52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4846" y="896544"/>
            <a:ext cx="3128951" cy="11358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56" name="成组"/>
          <p:cNvGrpSpPr/>
          <p:nvPr/>
        </p:nvGrpSpPr>
        <p:grpSpPr>
          <a:xfrm>
            <a:off x="2603797" y="6972511"/>
            <a:ext cx="4643436" cy="3949473"/>
            <a:chOff x="0" y="0"/>
            <a:chExt cx="4643434" cy="3949471"/>
          </a:xfrm>
        </p:grpSpPr>
        <p:pic>
          <p:nvPicPr>
            <p:cNvPr id="153" name="图片 10" descr="图片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97916"/>
              <a:ext cx="1179277" cy="350924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>
              <a:outerShdw blurRad="330200" dist="304800" dir="5400000" rotWithShape="0">
                <a:srgbClr val="000000">
                  <a:alpha val="25000"/>
                </a:srgbClr>
              </a:outerShdw>
            </a:effectLst>
          </p:spPr>
        </p:pic>
        <p:pic>
          <p:nvPicPr>
            <p:cNvPr id="154" name="图片 14" descr="图片 14"/>
            <p:cNvPicPr>
              <a:picLocks noChangeAspect="1"/>
            </p:cNvPicPr>
            <p:nvPr/>
          </p:nvPicPr>
          <p:blipFill>
            <a:blip r:embed="rId4"/>
            <a:srcRect r="3089"/>
            <a:stretch>
              <a:fillRect/>
            </a:stretch>
          </p:blipFill>
          <p:spPr>
            <a:xfrm>
              <a:off x="1109749" y="0"/>
              <a:ext cx="1721310" cy="394947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>
              <a:outerShdw blurRad="330200" dist="304800" dir="5400000" rotWithShape="0">
                <a:srgbClr val="000000">
                  <a:alpha val="25000"/>
                </a:srgbClr>
              </a:outerShdw>
            </a:effectLst>
          </p:spPr>
        </p:pic>
        <p:pic>
          <p:nvPicPr>
            <p:cNvPr id="155" name="图片 16" descr="图片 1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22104" y="352027"/>
              <a:ext cx="1721331" cy="340713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>
              <a:outerShdw blurRad="330200" dist="304800" dir="5400000" rotWithShape="0">
                <a:srgbClr val="000000">
                  <a:alpha val="25000"/>
                </a:srgbClr>
              </a:outerShdw>
            </a:effectLst>
          </p:spPr>
        </p:pic>
      </p:grpSp>
      <p:pic>
        <p:nvPicPr>
          <p:cNvPr id="157" name="图像" descr="图像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7203" y="2590816"/>
            <a:ext cx="7475470" cy="394947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8" name="文本框 20"/>
          <p:cNvSpPr txBox="1"/>
          <p:nvPr/>
        </p:nvSpPr>
        <p:spPr>
          <a:xfrm>
            <a:off x="10459746" y="11806873"/>
            <a:ext cx="12869803" cy="792481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spAutoFit/>
          </a:bodyPr>
          <a:lstStyle/>
          <a:p>
            <a:pPr algn="r" defTabSz="1828800">
              <a:lnSpc>
                <a:spcPct val="140000"/>
              </a:lnSpc>
              <a:spcBef>
                <a:spcPts val="0"/>
              </a:spcBef>
              <a:defRPr sz="1400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恒热将汽车混合动力理念首次引入热水领域的创新成果。HART3.0热水系统同时搭载热泵动力模块和燃气冷凝动力模块，</a:t>
            </a:r>
          </a:p>
          <a:p>
            <a:pPr algn="r" defTabSz="1828800">
              <a:lnSpc>
                <a:spcPct val="140000"/>
              </a:lnSpc>
              <a:spcBef>
                <a:spcPts val="0"/>
              </a:spcBef>
              <a:defRPr sz="1400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通过 AI 智能能源管理中枢实时调配两套系统的工作状态，实现热水“365天全工况覆盖，永远运行在最高效区间”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图像" descr="图像"/>
          <p:cNvPicPr>
            <a:picLocks noChangeAspect="1"/>
          </p:cNvPicPr>
          <p:nvPr/>
        </p:nvPicPr>
        <p:blipFill>
          <a:blip r:embed="rId1"/>
          <a:srcRect l="86" t="17862" r="19947" b="12238"/>
          <a:stretch>
            <a:fillRect/>
          </a:stretch>
        </p:blipFill>
        <p:spPr>
          <a:xfrm>
            <a:off x="-48196" y="-22947"/>
            <a:ext cx="24480392" cy="1376189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1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4846" y="896544"/>
            <a:ext cx="3128951" cy="11358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2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811" y="3007286"/>
            <a:ext cx="1207875" cy="412185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3" name="Text 0"/>
          <p:cNvSpPr txBox="1"/>
          <p:nvPr/>
        </p:nvSpPr>
        <p:spPr>
          <a:xfrm>
            <a:off x="1593598" y="4663967"/>
            <a:ext cx="23012401" cy="172354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dirty="0">
                <a:solidFill>
                  <a:srgbClr val="FFFFFF"/>
                </a:solidFill>
              </a:rPr>
              <a:t>满足</a:t>
            </a:r>
            <a:r>
              <a:rPr dirty="0">
                <a:solidFill>
                  <a:srgbClr val="C00000"/>
                </a:solidFill>
              </a:rPr>
              <a:t>4+卫生间</a:t>
            </a:r>
            <a:r>
              <a:rPr dirty="0">
                <a:solidFill>
                  <a:srgbClr val="FFFFFF"/>
                </a:solidFill>
              </a:rPr>
              <a:t>同开不断供</a:t>
            </a:r>
            <a:endParaRPr dirty="0">
              <a:solidFill>
                <a:srgbClr val="FFFFFF"/>
              </a:solidFill>
            </a:endParaRPr>
          </a:p>
          <a:p>
            <a:pPr defTabSz="18288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40</a:t>
            </a:r>
            <a:r>
              <a:rPr dirty="0">
                <a:solidFill>
                  <a:srgbClr val="C00000"/>
                </a:solidFill>
              </a:rPr>
              <a:t>0L/</a:t>
            </a:r>
            <a:r>
              <a:rPr dirty="0" err="1">
                <a:solidFill>
                  <a:srgbClr val="C00000"/>
                </a:solidFill>
              </a:rPr>
              <a:t>H</a:t>
            </a:r>
            <a:r>
              <a:rPr dirty="0" err="1">
                <a:solidFill>
                  <a:srgbClr val="FFFFFF"/>
                </a:solidFill>
              </a:rPr>
              <a:t>热水产出</a:t>
            </a:r>
            <a:endParaRPr dirty="0">
              <a:solidFill>
                <a:srgbClr val="FFFFFF"/>
              </a:solidFill>
            </a:endParaRPr>
          </a:p>
          <a:p>
            <a:pPr defTabSz="18288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dirty="0" err="1"/>
              <a:t>适配别墅、民宿、度假酒店等</a:t>
            </a:r>
            <a:endParaRPr dirty="0"/>
          </a:p>
          <a:p>
            <a:pPr defTabSz="18288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dirty="0" err="1"/>
              <a:t>大水量多点用水应用场景</a:t>
            </a:r>
            <a:endParaRPr dirty="0"/>
          </a:p>
        </p:txBody>
      </p:sp>
      <p:sp>
        <p:nvSpPr>
          <p:cNvPr id="164" name="Text 1"/>
          <p:cNvSpPr txBox="1"/>
          <p:nvPr/>
        </p:nvSpPr>
        <p:spPr>
          <a:xfrm>
            <a:off x="1583257" y="2833405"/>
            <a:ext cx="6014961" cy="152019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defTabSz="1828800">
              <a:spcBef>
                <a:spcPts val="0"/>
              </a:spcBef>
              <a:defRPr sz="45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>
                <a:solidFill>
                  <a:srgbClr val="FFFFFF"/>
                </a:solidFill>
              </a:rPr>
              <a:t>恒热HERT3.0</a:t>
            </a:r>
            <a:endParaRPr>
              <a:solidFill>
                <a:srgbClr val="FFFFFF"/>
              </a:solidFill>
            </a:endParaRPr>
          </a:p>
          <a:p>
            <a:pPr defTabSz="1828800">
              <a:spcBef>
                <a:spcPts val="0"/>
              </a:spcBef>
              <a:defRPr sz="45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>
                <a:solidFill>
                  <a:srgbClr val="C00000"/>
                </a:solidFill>
              </a:rPr>
              <a:t>专利混动容积式热水器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65" name="文本框 5"/>
          <p:cNvSpPr txBox="1"/>
          <p:nvPr/>
        </p:nvSpPr>
        <p:spPr>
          <a:xfrm>
            <a:off x="1591135" y="6697886"/>
            <a:ext cx="5589894" cy="180213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just" defTabSz="914400">
              <a:lnSpc>
                <a:spcPts val="2700"/>
              </a:lnSpc>
              <a:spcBef>
                <a:spcPts val="600"/>
              </a:spcBef>
              <a:defRPr sz="1500" b="1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lvl1pPr>
          </a:lstStyle>
          <a:p>
            <a:r>
              <a:t>专利双擎混动技术，同时搭载热泵动力模块和燃气冷凝动力模块，通过AI智能能源管理中枢实时调配两套系统的工作状态，实现热水“365天全工况覆盖，永远运行在最高效区间”。兼具高效、舒适、稳定、节能四大核心优势，单台1m2占地可满足千平大宅供水，支持多机并联。</a:t>
            </a:r>
          </a:p>
        </p:txBody>
      </p:sp>
      <p:pic>
        <p:nvPicPr>
          <p:cNvPr id="166" name="图像" descr="图像"/>
          <p:cNvPicPr>
            <a:picLocks noChangeAspect="1"/>
          </p:cNvPicPr>
          <p:nvPr/>
        </p:nvPicPr>
        <p:blipFill>
          <a:blip r:embed="rId4"/>
          <a:srcRect r="25823" b="54070"/>
          <a:stretch>
            <a:fillRect/>
          </a:stretch>
        </p:blipFill>
        <p:spPr>
          <a:xfrm>
            <a:off x="-265935" y="8205094"/>
            <a:ext cx="24808140" cy="5543953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图像" descr="图像"/>
          <p:cNvPicPr>
            <a:picLocks noChangeAspect="1"/>
          </p:cNvPicPr>
          <p:nvPr/>
        </p:nvPicPr>
        <p:blipFill>
          <a:blip r:embed="rId1"/>
          <a:srcRect t="2229" b="6105"/>
          <a:stretch>
            <a:fillRect/>
          </a:stretch>
        </p:blipFill>
        <p:spPr>
          <a:xfrm>
            <a:off x="0" y="-52470"/>
            <a:ext cx="24384000" cy="1382094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9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4846" y="896544"/>
            <a:ext cx="3128951" cy="11358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70" name="图片 2" descr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549" y="3213646"/>
            <a:ext cx="4467727" cy="27072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71" name="图片 16" descr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0621" y="3213646"/>
            <a:ext cx="4467728" cy="27072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72" name="图片 14" descr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5549" y="7667905"/>
            <a:ext cx="4467727" cy="27072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73" name="图片 18" descr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30621" y="7667905"/>
            <a:ext cx="4467728" cy="27072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4" name="文本框 7"/>
          <p:cNvSpPr txBox="1"/>
          <p:nvPr/>
        </p:nvSpPr>
        <p:spPr>
          <a:xfrm>
            <a:off x="9523886" y="6168304"/>
            <a:ext cx="4063738" cy="10454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大功率</a:t>
            </a:r>
          </a:p>
          <a:p>
            <a:pPr defTabSz="1828800">
              <a:lnSpc>
                <a:spcPts val="24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52kw/70kw/90kw大功丰极速复热，结合5kw热泵辅助，充沛热水源源不断。</a:t>
            </a:r>
          </a:p>
        </p:txBody>
      </p:sp>
      <p:sp>
        <p:nvSpPr>
          <p:cNvPr id="175" name="文本框 20"/>
          <p:cNvSpPr txBox="1"/>
          <p:nvPr/>
        </p:nvSpPr>
        <p:spPr>
          <a:xfrm>
            <a:off x="15076715" y="6322736"/>
            <a:ext cx="4924931" cy="7366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大口径</a:t>
            </a:r>
          </a:p>
          <a:p>
            <a:pPr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DN32/DN50大口径进出水口，水流强劲有力。</a:t>
            </a:r>
          </a:p>
        </p:txBody>
      </p:sp>
      <p:sp>
        <p:nvSpPr>
          <p:cNvPr id="176" name="文本框 9"/>
          <p:cNvSpPr txBox="1"/>
          <p:nvPr/>
        </p:nvSpPr>
        <p:spPr>
          <a:xfrm>
            <a:off x="9562513" y="10603379"/>
            <a:ext cx="4467725" cy="13716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大容量</a:t>
            </a:r>
          </a:p>
          <a:p>
            <a:pPr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2BOL/380L超大容量存储，从容应对多卫同开、高峰用水等大流量场景，热水即开即用。无需等待。</a:t>
            </a:r>
          </a:p>
        </p:txBody>
      </p:sp>
      <p:sp>
        <p:nvSpPr>
          <p:cNvPr id="177" name="文本框 21"/>
          <p:cNvSpPr txBox="1"/>
          <p:nvPr/>
        </p:nvSpPr>
        <p:spPr>
          <a:xfrm>
            <a:off x="15091041" y="10605306"/>
            <a:ext cx="4146887" cy="1054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大压力</a:t>
            </a:r>
          </a:p>
          <a:p>
            <a:pPr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健水式内部大通路设计，沿程压损极低，热水更澎湃。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圆角矩形"/>
          <p:cNvSpPr/>
          <p:nvPr/>
        </p:nvSpPr>
        <p:spPr>
          <a:xfrm>
            <a:off x="5956391" y="3493508"/>
            <a:ext cx="10487613" cy="5671423"/>
          </a:xfrm>
          <a:prstGeom prst="roundRect">
            <a:avLst>
              <a:gd name="adj" fmla="val 15324"/>
            </a:avLst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0" name="文本框 4"/>
          <p:cNvSpPr txBox="1"/>
          <p:nvPr/>
        </p:nvSpPr>
        <p:spPr>
          <a:xfrm>
            <a:off x="1596472" y="1325010"/>
            <a:ext cx="10897873" cy="980437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5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>
                <a:solidFill>
                  <a:srgbClr val="AF2D2C"/>
                </a:solidFill>
              </a:rPr>
              <a:t>HART3.0</a:t>
            </a:r>
            <a:r>
              <a:t> 专利混动容积式热水器</a:t>
            </a:r>
          </a:p>
        </p:txBody>
      </p:sp>
      <p:pic>
        <p:nvPicPr>
          <p:cNvPr id="181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34846" y="896544"/>
            <a:ext cx="3128951" cy="11358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82" name="wecom-temp-2877615-8bad8e0d6a788539c72f87075b3f313f.png" descr="wecom-temp-2877615-8bad8e0d6a788539c72f87075b3f31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954" y="2630617"/>
            <a:ext cx="7132031" cy="713203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83" name="图片 23" descr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3735" y="3741971"/>
            <a:ext cx="4579221" cy="517102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4" name="圆角矩形"/>
          <p:cNvSpPr/>
          <p:nvPr/>
        </p:nvSpPr>
        <p:spPr>
          <a:xfrm>
            <a:off x="8186570" y="3021373"/>
            <a:ext cx="3385200" cy="1120421"/>
          </a:xfrm>
          <a:prstGeom prst="roundRect">
            <a:avLst>
              <a:gd name="adj" fmla="val 28790"/>
            </a:avLst>
          </a:prstGeom>
          <a:solidFill>
            <a:srgbClr val="AF2D2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5" name="核心差异优势"/>
          <p:cNvSpPr txBox="1"/>
          <p:nvPr/>
        </p:nvSpPr>
        <p:spPr>
          <a:xfrm>
            <a:off x="8450419" y="3213283"/>
            <a:ext cx="2857501" cy="7366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核心差异优势</a:t>
            </a:r>
          </a:p>
        </p:txBody>
      </p:sp>
      <p:sp>
        <p:nvSpPr>
          <p:cNvPr id="186" name="Text 0"/>
          <p:cNvSpPr txBox="1"/>
          <p:nvPr/>
        </p:nvSpPr>
        <p:spPr>
          <a:xfrm>
            <a:off x="8265693" y="4436845"/>
            <a:ext cx="7962029" cy="428752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342900" indent="-342900" defTabSz="1828800">
              <a:lnSpc>
                <a:spcPct val="80000"/>
              </a:lnSpc>
              <a:spcBef>
                <a:spcPts val="1200"/>
              </a:spcBef>
              <a:buClr>
                <a:srgbClr val="C00000"/>
              </a:buClr>
              <a:buSzPct val="100000"/>
              <a:buFont typeface="Arial" panose="020B0604020202020204"/>
              <a:buChar char="•"/>
              <a:defRPr sz="20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全预混冷凝燃烧技术，热效率超107%，节能降耗</a:t>
            </a:r>
          </a:p>
          <a:p>
            <a:pPr marL="342900" indent="-342900" defTabSz="1828800">
              <a:lnSpc>
                <a:spcPct val="80000"/>
              </a:lnSpc>
              <a:spcBef>
                <a:spcPts val="1200"/>
              </a:spcBef>
              <a:buClr>
                <a:srgbClr val="C00000"/>
              </a:buClr>
              <a:buSzPct val="100000"/>
              <a:buFont typeface="Arial" panose="020B0604020202020204"/>
              <a:buChar char="•"/>
              <a:defRPr sz="20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LeakSenseTM专利泄漏监控系统*，及时发现微小泄漏并预警</a:t>
            </a:r>
          </a:p>
          <a:p>
            <a:pPr marL="342900" indent="-342900" defTabSz="1828800">
              <a:lnSpc>
                <a:spcPct val="80000"/>
              </a:lnSpc>
              <a:spcBef>
                <a:spcPts val="1200"/>
              </a:spcBef>
              <a:buClr>
                <a:srgbClr val="C00000"/>
              </a:buClr>
              <a:buSzPct val="100000"/>
              <a:buFont typeface="Arial" panose="020B0604020202020204"/>
              <a:buChar char="•"/>
              <a:defRPr sz="20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低碳环保，NOx排放&lt;30mg/m3</a:t>
            </a:r>
          </a:p>
          <a:p>
            <a:pPr marL="342900" indent="-342900" defTabSz="1828800">
              <a:lnSpc>
                <a:spcPct val="80000"/>
              </a:lnSpc>
              <a:spcBef>
                <a:spcPts val="1200"/>
              </a:spcBef>
              <a:buClr>
                <a:srgbClr val="C00000"/>
              </a:buClr>
              <a:buSzPct val="100000"/>
              <a:buFont typeface="Arial" panose="020B0604020202020204"/>
              <a:buChar char="•"/>
              <a:defRPr sz="20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加长镁棒+电子阳极棒，360°全方位保护内胆</a:t>
            </a:r>
          </a:p>
          <a:p>
            <a:pPr marL="342900" indent="-342900" defTabSz="1828800">
              <a:lnSpc>
                <a:spcPct val="80000"/>
              </a:lnSpc>
              <a:spcBef>
                <a:spcPts val="1200"/>
              </a:spcBef>
              <a:buClr>
                <a:srgbClr val="C00000"/>
              </a:buClr>
              <a:buSzPct val="100000"/>
              <a:buFont typeface="Arial" panose="020B0604020202020204"/>
              <a:buChar char="•"/>
              <a:defRPr sz="20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独有烟气混合腔，防止过热点</a:t>
            </a:r>
          </a:p>
          <a:p>
            <a:pPr marL="342900" indent="-342900" defTabSz="1828800">
              <a:lnSpc>
                <a:spcPct val="80000"/>
              </a:lnSpc>
              <a:spcBef>
                <a:spcPts val="1200"/>
              </a:spcBef>
              <a:buClr>
                <a:srgbClr val="C00000"/>
              </a:buClr>
              <a:buSzPct val="100000"/>
              <a:buFont typeface="Arial" panose="020B0604020202020204"/>
              <a:buChar char="•"/>
              <a:defRPr sz="20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褐金搪瓷抑菌内胆，抗菌率高达99%</a:t>
            </a:r>
          </a:p>
          <a:p>
            <a:pPr marL="342900" indent="-342900" defTabSz="1828800">
              <a:lnSpc>
                <a:spcPct val="80000"/>
              </a:lnSpc>
              <a:spcBef>
                <a:spcPts val="1200"/>
              </a:spcBef>
              <a:buClr>
                <a:srgbClr val="C00000"/>
              </a:buClr>
              <a:buSzPct val="100000"/>
              <a:buFont typeface="Arial" panose="020B0604020202020204"/>
              <a:buChar char="•"/>
              <a:defRPr sz="20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oT智联，随时随地掌握机器性能，还可远程调节</a:t>
            </a:r>
          </a:p>
          <a:p>
            <a:pPr marL="342900" indent="-342900" defTabSz="1828800">
              <a:lnSpc>
                <a:spcPct val="80000"/>
              </a:lnSpc>
              <a:spcBef>
                <a:spcPts val="1200"/>
              </a:spcBef>
              <a:buClr>
                <a:srgbClr val="C00000"/>
              </a:buClr>
              <a:buSzPct val="100000"/>
              <a:buFont typeface="Arial" panose="020B0604020202020204"/>
              <a:buChar char="•"/>
              <a:defRPr sz="20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IPX5防水等级室外型，可直接室外安装</a:t>
            </a:r>
          </a:p>
          <a:p>
            <a:pPr marL="342900" indent="-342900" defTabSz="1828800">
              <a:lnSpc>
                <a:spcPct val="80000"/>
              </a:lnSpc>
              <a:spcBef>
                <a:spcPts val="1200"/>
              </a:spcBef>
              <a:buClr>
                <a:srgbClr val="C00000"/>
              </a:buClr>
              <a:buSzPct val="100000"/>
              <a:buFont typeface="Arial" panose="020B0604020202020204"/>
              <a:buChar char="•"/>
              <a:defRPr sz="20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专利A智能节能管家，省钱看得见</a:t>
            </a:r>
          </a:p>
          <a:p>
            <a:pPr marL="342900" indent="-342900" defTabSz="1828800">
              <a:lnSpc>
                <a:spcPct val="80000"/>
              </a:lnSpc>
              <a:spcBef>
                <a:spcPts val="1200"/>
              </a:spcBef>
              <a:buClr>
                <a:srgbClr val="C00000"/>
              </a:buClr>
              <a:buSzPct val="100000"/>
              <a:buFont typeface="Arial" panose="020B0604020202020204"/>
              <a:buChar char="•"/>
              <a:defRPr sz="20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全彩LCD显示设备运行状态和故障警示</a:t>
            </a:r>
          </a:p>
        </p:txBody>
      </p:sp>
      <p:graphicFrame>
        <p:nvGraphicFramePr>
          <p:cNvPr id="187" name="表格 1-1"/>
          <p:cNvGraphicFramePr/>
          <p:nvPr/>
        </p:nvGraphicFramePr>
        <p:xfrm>
          <a:off x="1167227" y="10214819"/>
          <a:ext cx="21939877" cy="2101912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641764"/>
                <a:gridCol w="1746474"/>
                <a:gridCol w="1418348"/>
                <a:gridCol w="1975556"/>
                <a:gridCol w="1671626"/>
                <a:gridCol w="1975556"/>
                <a:gridCol w="1817831"/>
                <a:gridCol w="2012828"/>
                <a:gridCol w="2105375"/>
                <a:gridCol w="1480700"/>
                <a:gridCol w="948574"/>
                <a:gridCol w="1157891"/>
                <a:gridCol w="987354"/>
              </a:tblGrid>
              <a:tr h="843016">
                <a:tc>
                  <a:txBody>
                    <a:bodyPr/>
                    <a:lstStyle/>
                    <a:p>
                      <a:pPr algn="l" defTabSz="1828800">
                        <a:defRPr sz="360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defRPr>
                      </a:pPr>
                    </a:p>
                  </a:txBody>
                  <a:tcPr marL="0" marR="0" marT="0" marB="0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2A2B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额度容积 (L)</a:t>
                      </a:r>
                      <a:endParaRPr spc="12">
                        <a:solidFill>
                          <a:srgbClr val="FFFFFF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电源 (V/Hz)</a:t>
                      </a:r>
                      <a:endParaRPr spc="12">
                        <a:solidFill>
                          <a:srgbClr val="FFFFFF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>
                        <a:defRPr spc="12">
                          <a:solidFill>
                            <a:srgbClr val="FFFFFF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defRPr>
                      </a:pPr>
                      <a:r>
                        <a:t>额定燃气气压</a:t>
                      </a:r>
                    </a:p>
                    <a:p>
                      <a:pPr defTabSz="1828800">
                        <a:defRPr spc="12">
                          <a:solidFill>
                            <a:srgbClr val="FFFFFF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defRPr>
                      </a:pPr>
                      <a:r>
                        <a:t>(pa)</a:t>
                      </a: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额定电功率 (W)</a:t>
                      </a:r>
                      <a:endParaRPr spc="12">
                        <a:solidFill>
                          <a:srgbClr val="FFFFFF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>
                        <a:defRPr spc="12">
                          <a:solidFill>
                            <a:srgbClr val="FFFFFF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defRPr>
                      </a:pPr>
                      <a:r>
                        <a:t>最高供水压力</a:t>
                      </a:r>
                      <a:br/>
                      <a:r>
                        <a:t>（Mpa）</a:t>
                      </a: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最高工作水压 （Mpa）</a:t>
                      </a:r>
                      <a:endParaRPr spc="12">
                        <a:solidFill>
                          <a:srgbClr val="FFFFFF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>
                        <a:defRPr spc="12">
                          <a:solidFill>
                            <a:srgbClr val="FFFFFF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defRPr>
                      </a:pPr>
                      <a:r>
                        <a:t>燃气额定热负荷</a:t>
                      </a:r>
                    </a:p>
                    <a:p>
                      <a:pPr defTabSz="1828800">
                        <a:defRPr spc="12">
                          <a:solidFill>
                            <a:srgbClr val="FFFFFF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defRPr>
                      </a:pPr>
                      <a:r>
                        <a:t>（KW）</a:t>
                      </a: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>
                        <a:defRPr spc="12">
                          <a:solidFill>
                            <a:srgbClr val="FFFFFF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defRPr>
                      </a:pPr>
                      <a:r>
                        <a:t>热泵制热热量</a:t>
                      </a:r>
                    </a:p>
                    <a:p>
                      <a:pPr defTabSz="1828800">
                        <a:defRPr spc="12">
                          <a:solidFill>
                            <a:srgbClr val="FFFFFF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defRPr>
                      </a:pPr>
                      <a:r>
                        <a:t>（W）</a:t>
                      </a: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>
                        <a:defRPr spc="12">
                          <a:solidFill>
                            <a:srgbClr val="FFFFFF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defRPr>
                      </a:pPr>
                      <a:r>
                        <a:t>高度</a:t>
                      </a:r>
                    </a:p>
                    <a:p>
                      <a:pPr defTabSz="1828800">
                        <a:defRPr spc="12">
                          <a:solidFill>
                            <a:srgbClr val="FFFFFF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defRPr>
                      </a:pPr>
                      <a:r>
                        <a:t> （mm）</a:t>
                      </a: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>
                        <a:defRPr spc="12">
                          <a:solidFill>
                            <a:srgbClr val="FFFFFF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defRPr>
                      </a:pPr>
                      <a:r>
                        <a:t>长度（mm）</a:t>
                      </a: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>
                        <a:defRPr spc="12">
                          <a:solidFill>
                            <a:srgbClr val="FFFFFF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defRPr>
                      </a:pPr>
                      <a:r>
                        <a:t>直径</a:t>
                      </a:r>
                    </a:p>
                    <a:p>
                      <a:pPr defTabSz="1828800">
                        <a:defRPr spc="12">
                          <a:solidFill>
                            <a:srgbClr val="FFFFFF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defRPr>
                      </a:pPr>
                      <a:r>
                        <a:t> （mm）</a:t>
                      </a: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净重 (kg)</a:t>
                      </a:r>
                      <a:endParaRPr spc="12">
                        <a:solidFill>
                          <a:srgbClr val="FFFFFF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</a:tr>
              <a:tr h="419632"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GCC280-52HP-H</a:t>
                      </a:r>
                      <a:endParaRPr spc="12">
                        <a:solidFill>
                          <a:srgbClr val="FFFFFF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2A2B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380</a:t>
                      </a:r>
                      <a:endParaRPr spc="12"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 rowSpan="3">
                  <a:txBody>
                    <a:bodyPr/>
                    <a:lstStyle/>
                    <a:p>
                      <a:pPr defTabSz="1828800"/>
                      <a:r>
                        <a:rPr spc="12"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220~ / 50</a:t>
                      </a:r>
                      <a:endParaRPr spc="12"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 rowSpan="3">
                  <a:txBody>
                    <a:bodyPr/>
                    <a:lstStyle/>
                    <a:p>
                      <a:pPr defTabSz="1828800"/>
                      <a:r>
                        <a:rPr spc="12"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2000</a:t>
                      </a:r>
                      <a:endParaRPr spc="12"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76</a:t>
                      </a:r>
                      <a:endParaRPr spc="12"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 rowSpan="3">
                  <a:txBody>
                    <a:bodyPr/>
                    <a:lstStyle/>
                    <a:p>
                      <a:pPr defTabSz="1828800">
                        <a:defRPr spc="12"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defRPr>
                      </a:pPr>
                      <a:r>
                        <a:t>0.8</a:t>
                      </a: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1.1</a:t>
                      </a:r>
                      <a:endParaRPr spc="12"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52</a:t>
                      </a:r>
                      <a:endParaRPr spc="12"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5000</a:t>
                      </a:r>
                      <a:endParaRPr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1988</a:t>
                      </a:r>
                      <a:endParaRPr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1095</a:t>
                      </a:r>
                      <a:endParaRPr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721</a:t>
                      </a:r>
                      <a:endParaRPr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242</a:t>
                      </a:r>
                      <a:endParaRPr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</a:tr>
              <a:tr h="419632"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GCC380-70HP-H</a:t>
                      </a:r>
                      <a:endParaRPr spc="12">
                        <a:solidFill>
                          <a:srgbClr val="FFFFFF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2A2B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380</a:t>
                      </a:r>
                      <a:endParaRPr spc="12"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C00000"/>
                      </a:solidFill>
                    </a:lnB>
                    <a:solidFill>
                      <a:srgbClr val="E8E8E8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135</a:t>
                      </a:r>
                      <a:endParaRPr spc="12"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C00000"/>
                      </a:solidFill>
                    </a:lnB>
                    <a:solidFill>
                      <a:srgbClr val="E8E8E8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1.05</a:t>
                      </a:r>
                      <a:endParaRPr spc="12"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C0000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70</a:t>
                      </a:r>
                      <a:endParaRPr spc="12"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C0000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5000</a:t>
                      </a:r>
                      <a:endParaRPr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C0000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1988</a:t>
                      </a:r>
                      <a:endParaRPr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C0000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1095</a:t>
                      </a:r>
                      <a:endParaRPr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C0000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721</a:t>
                      </a:r>
                      <a:endParaRPr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C0000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338</a:t>
                      </a:r>
                      <a:endParaRPr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C00000"/>
                      </a:solidFill>
                    </a:lnB>
                    <a:solidFill>
                      <a:srgbClr val="E8E8E8"/>
                    </a:solidFill>
                  </a:tcPr>
                </a:tc>
              </a:tr>
              <a:tr h="419632"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GCC380-90HP-H</a:t>
                      </a:r>
                      <a:endParaRPr spc="12">
                        <a:solidFill>
                          <a:srgbClr val="FFFFFF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  <a:solidFill>
                      <a:srgbClr val="C62A2B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>
                        <a:defRPr spc="12"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defRPr>
                      </a:pPr>
                      <a:r>
                        <a:t>380</a:t>
                      </a: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285</a:t>
                      </a:r>
                      <a:endParaRPr spc="12"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1.05</a:t>
                      </a:r>
                      <a:endParaRPr spc="12"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90</a:t>
                      </a:r>
                      <a:endParaRPr spc="12"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5000</a:t>
                      </a:r>
                      <a:endParaRPr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1988</a:t>
                      </a:r>
                      <a:endParaRPr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1095</a:t>
                      </a:r>
                      <a:endParaRPr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721</a:t>
                      </a:r>
                      <a:endParaRPr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latin typeface="微软雅黑 Light" panose="020B0502040204020203" charset="-122"/>
                          <a:ea typeface="微软雅黑 Light" panose="020B0502040204020203" charset="-122"/>
                          <a:cs typeface="微软雅黑 Light" panose="020B0502040204020203" charset="-122"/>
                          <a:sym typeface="微软雅黑 Light" panose="020B0502040204020203" charset="-122"/>
                        </a:rPr>
                        <a:t>338</a:t>
                      </a:r>
                      <a:endParaRPr>
                        <a:latin typeface="微软雅黑 Light" panose="020B0502040204020203" charset="-122"/>
                        <a:ea typeface="微软雅黑 Light" panose="020B0502040204020203" charset="-122"/>
                        <a:cs typeface="微软雅黑 Light" panose="020B0502040204020203" charset="-122"/>
                        <a:sym typeface="微软雅黑 Light" panose="020B0502040204020203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C00000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8" name="文本框 16"/>
          <p:cNvSpPr txBox="1"/>
          <p:nvPr/>
        </p:nvSpPr>
        <p:spPr>
          <a:xfrm>
            <a:off x="2301603" y="4024749"/>
            <a:ext cx="2466247" cy="4343768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spAutoFit/>
          </a:bodyPr>
          <a:lstStyle/>
          <a:p>
            <a:pPr defTabSz="1828800">
              <a:lnSpc>
                <a:spcPts val="4000"/>
              </a:lnSpc>
              <a:spcBef>
                <a:spcPts val="2400"/>
              </a:spcBef>
              <a:defRPr sz="280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rPr>
              <a:t>零售价</a:t>
            </a:r>
            <a:endParaRPr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微软雅黑 Light" panose="020B0502040204020203" charset="-122"/>
            </a:endParaRPr>
          </a:p>
          <a:p>
            <a:pPr defTabSz="1828800">
              <a:lnSpc>
                <a:spcPct val="100000"/>
              </a:lnSpc>
              <a:spcBef>
                <a:spcPts val="0"/>
              </a:spcBef>
              <a:defRPr sz="2800" i="1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t>52KW</a:t>
            </a:r>
          </a:p>
          <a:p>
            <a:pPr defTabSz="1828800">
              <a:lnSpc>
                <a:spcPts val="4000"/>
              </a:lnSpc>
              <a:spcBef>
                <a:spcPts val="0"/>
              </a:spcBef>
              <a:defRPr sz="2800" i="1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t> </a:t>
            </a:r>
            <a:r>
              <a:rPr b="1">
                <a:solidFill>
                  <a:srgbClr val="C00000"/>
                </a:solidFill>
              </a:rPr>
              <a:t>¥ </a:t>
            </a:r>
            <a:r>
              <a:rPr sz="3600" b="1">
                <a:solidFill>
                  <a:srgbClr val="C00000"/>
                </a:solidFill>
              </a:rPr>
              <a:t>78999</a:t>
            </a:r>
            <a:endParaRPr sz="3600" b="1">
              <a:solidFill>
                <a:srgbClr val="C00000"/>
              </a:solidFill>
            </a:endParaRPr>
          </a:p>
          <a:p>
            <a:pPr defTabSz="1828800">
              <a:lnSpc>
                <a:spcPct val="100000"/>
              </a:lnSpc>
              <a:spcBef>
                <a:spcPts val="2400"/>
              </a:spcBef>
              <a:defRPr sz="2800" i="1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t>70KW</a:t>
            </a:r>
          </a:p>
          <a:p>
            <a:pPr defTabSz="1828800">
              <a:lnSpc>
                <a:spcPts val="4000"/>
              </a:lnSpc>
              <a:spcBef>
                <a:spcPts val="0"/>
              </a:spcBef>
              <a:defRPr sz="2800" b="1" i="1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t>¥ </a:t>
            </a:r>
            <a:r>
              <a:rPr sz="3600"/>
              <a:t>110999 </a:t>
            </a:r>
            <a:endParaRPr sz="3600"/>
          </a:p>
          <a:p>
            <a:pPr defTabSz="1828800">
              <a:lnSpc>
                <a:spcPct val="100000"/>
              </a:lnSpc>
              <a:spcBef>
                <a:spcPts val="2400"/>
              </a:spcBef>
              <a:defRPr sz="2800" i="1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t>90KW</a:t>
            </a:r>
          </a:p>
          <a:p>
            <a:pPr defTabSz="1828800">
              <a:lnSpc>
                <a:spcPts val="4000"/>
              </a:lnSpc>
              <a:spcBef>
                <a:spcPts val="0"/>
              </a:spcBef>
              <a:defRPr sz="2800" b="1" i="1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t>¥ </a:t>
            </a:r>
            <a:r>
              <a:rPr sz="3600"/>
              <a:t>142999</a:t>
            </a:r>
            <a:endParaRPr sz="360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图片 9" descr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1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170" y="1362682"/>
            <a:ext cx="6093936" cy="43197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2" name="图像" descr="图像"/>
          <p:cNvPicPr>
            <a:picLocks noChangeAspect="1"/>
          </p:cNvPicPr>
          <p:nvPr/>
        </p:nvPicPr>
        <p:blipFill>
          <a:blip r:embed="rId3"/>
          <a:srcRect r="25823" b="54070"/>
          <a:stretch>
            <a:fillRect/>
          </a:stretch>
        </p:blipFill>
        <p:spPr>
          <a:xfrm>
            <a:off x="-265935" y="8205094"/>
            <a:ext cx="24808140" cy="55439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3" name="3.2119.png" descr="3.2119.png"/>
          <p:cNvPicPr>
            <a:picLocks noChangeAspect="1"/>
          </p:cNvPicPr>
          <p:nvPr/>
        </p:nvPicPr>
        <p:blipFill>
          <a:blip r:embed="rId4"/>
          <a:srcRect l="34082" r="34082"/>
          <a:stretch>
            <a:fillRect/>
          </a:stretch>
        </p:blipFill>
        <p:spPr>
          <a:xfrm>
            <a:off x="3585935" y="6351232"/>
            <a:ext cx="3113458" cy="651739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4" name="副标题 2"/>
          <p:cNvSpPr txBox="1"/>
          <p:nvPr/>
        </p:nvSpPr>
        <p:spPr>
          <a:xfrm>
            <a:off x="1707094" y="11741131"/>
            <a:ext cx="5393587" cy="939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Vela</a:t>
            </a:r>
          </a:p>
          <a:p>
            <a:pPr defTabSz="18288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空气能热水器</a:t>
            </a:r>
          </a:p>
        </p:txBody>
      </p:sp>
      <p:pic>
        <p:nvPicPr>
          <p:cNvPr id="195" name="图像" descr="图像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2735496" y="10613823"/>
            <a:ext cx="2156543" cy="1265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6" name="图像" descr="图像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4846" y="896544"/>
            <a:ext cx="3128951" cy="1135849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圆角矩形"/>
          <p:cNvSpPr/>
          <p:nvPr/>
        </p:nvSpPr>
        <p:spPr>
          <a:xfrm>
            <a:off x="5956391" y="3493508"/>
            <a:ext cx="9979002" cy="5671423"/>
          </a:xfrm>
          <a:prstGeom prst="roundRect">
            <a:avLst>
              <a:gd name="adj" fmla="val 15324"/>
            </a:avLst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9" name="文本框 4"/>
          <p:cNvSpPr txBox="1"/>
          <p:nvPr/>
        </p:nvSpPr>
        <p:spPr>
          <a:xfrm>
            <a:off x="1596472" y="1325010"/>
            <a:ext cx="10897873" cy="980437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5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>
                <a:solidFill>
                  <a:srgbClr val="AF2D2C"/>
                </a:solidFill>
              </a:rPr>
              <a:t>VELA维拉</a:t>
            </a:r>
            <a:r>
              <a:t> 空气能热水器</a:t>
            </a:r>
          </a:p>
        </p:txBody>
      </p:sp>
      <p:pic>
        <p:nvPicPr>
          <p:cNvPr id="200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34846" y="896544"/>
            <a:ext cx="3128951" cy="11358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1" name="圆角矩形"/>
          <p:cNvSpPr/>
          <p:nvPr/>
        </p:nvSpPr>
        <p:spPr>
          <a:xfrm>
            <a:off x="8186570" y="3021373"/>
            <a:ext cx="3385200" cy="1120421"/>
          </a:xfrm>
          <a:prstGeom prst="roundRect">
            <a:avLst>
              <a:gd name="adj" fmla="val 28790"/>
            </a:avLst>
          </a:prstGeom>
          <a:solidFill>
            <a:srgbClr val="AF2D2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2" name="核心差异优势"/>
          <p:cNvSpPr txBox="1"/>
          <p:nvPr/>
        </p:nvSpPr>
        <p:spPr>
          <a:xfrm>
            <a:off x="8450419" y="3213283"/>
            <a:ext cx="2857501" cy="7366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核心差异优势</a:t>
            </a:r>
          </a:p>
        </p:txBody>
      </p:sp>
      <p:sp>
        <p:nvSpPr>
          <p:cNvPr id="203" name="Text 0"/>
          <p:cNvSpPr txBox="1"/>
          <p:nvPr/>
        </p:nvSpPr>
        <p:spPr>
          <a:xfrm>
            <a:off x="8265693" y="4436845"/>
            <a:ext cx="7962029" cy="42570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342900" indent="-342900" defTabSz="1828800">
              <a:lnSpc>
                <a:spcPct val="140000"/>
              </a:lnSpc>
              <a:spcBef>
                <a:spcPts val="1200"/>
              </a:spcBef>
              <a:buClr>
                <a:srgbClr val="C00000"/>
              </a:buClr>
              <a:buSzPct val="100000"/>
              <a:buFont typeface="Arial" panose="020B0604020202020204"/>
              <a:buChar char="•"/>
              <a:defRPr sz="20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能效领先：COP4.2，一级能效。</a:t>
            </a:r>
          </a:p>
          <a:p>
            <a:pPr marL="342900" indent="-342900" defTabSz="1828800">
              <a:lnSpc>
                <a:spcPct val="140000"/>
              </a:lnSpc>
              <a:spcBef>
                <a:spcPts val="1200"/>
              </a:spcBef>
              <a:buClr>
                <a:srgbClr val="C00000"/>
              </a:buClr>
              <a:buSzPct val="100000"/>
              <a:buFont typeface="Arial" panose="020B0604020202020204"/>
              <a:buChar char="•"/>
              <a:defRPr sz="20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高温制热能力：纯热泵70℃高温</a:t>
            </a:r>
          </a:p>
          <a:p>
            <a:pPr marL="342900" indent="-342900" defTabSz="1828800">
              <a:lnSpc>
                <a:spcPct val="140000"/>
              </a:lnSpc>
              <a:spcBef>
                <a:spcPts val="1200"/>
              </a:spcBef>
              <a:buClr>
                <a:srgbClr val="C00000"/>
              </a:buClr>
              <a:buSzPct val="100000"/>
              <a:buFont typeface="Arial" panose="020B0604020202020204"/>
              <a:buChar char="•"/>
              <a:defRPr sz="20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内置热水循环泵，热水即开即热。</a:t>
            </a:r>
          </a:p>
          <a:p>
            <a:pPr marL="342900" indent="-342900" defTabSz="1828800">
              <a:lnSpc>
                <a:spcPct val="140000"/>
              </a:lnSpc>
              <a:spcBef>
                <a:spcPts val="1200"/>
              </a:spcBef>
              <a:buClr>
                <a:srgbClr val="C00000"/>
              </a:buClr>
              <a:buSzPct val="100000"/>
              <a:buFont typeface="Arial" panose="020B0604020202020204"/>
              <a:buChar char="•"/>
              <a:defRPr sz="20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Wi-Fi远程控制，三种加热模式。</a:t>
            </a:r>
          </a:p>
          <a:p>
            <a:pPr marL="342900" indent="-342900" defTabSz="1828800">
              <a:lnSpc>
                <a:spcPct val="140000"/>
              </a:lnSpc>
              <a:spcBef>
                <a:spcPts val="1200"/>
              </a:spcBef>
              <a:buClr>
                <a:srgbClr val="C00000"/>
              </a:buClr>
              <a:buSzPct val="100000"/>
              <a:buFont typeface="Arial" panose="020B0604020202020204"/>
              <a:buChar char="•"/>
              <a:defRPr sz="20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RHEEMGLAS®商用机内胆，抑菌率99%。</a:t>
            </a:r>
          </a:p>
          <a:p>
            <a:pPr marL="342900" indent="-342900" defTabSz="1828800">
              <a:lnSpc>
                <a:spcPct val="140000"/>
              </a:lnSpc>
              <a:spcBef>
                <a:spcPts val="1200"/>
              </a:spcBef>
              <a:buClr>
                <a:srgbClr val="C00000"/>
              </a:buClr>
              <a:buSzPct val="100000"/>
              <a:buFont typeface="Arial" panose="020B0604020202020204"/>
              <a:buChar char="•"/>
              <a:defRPr sz="20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质保更长，整机五年，内胆八年。</a:t>
            </a:r>
          </a:p>
          <a:p>
            <a:pPr marL="342900" indent="-342900" defTabSz="1828800">
              <a:lnSpc>
                <a:spcPct val="140000"/>
              </a:lnSpc>
              <a:spcBef>
                <a:spcPts val="1200"/>
              </a:spcBef>
              <a:buClr>
                <a:srgbClr val="C00000"/>
              </a:buClr>
              <a:buSzPct val="100000"/>
              <a:buFont typeface="Arial" panose="020B0604020202020204"/>
              <a:buChar char="•"/>
              <a:defRPr sz="20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应用场景：别墅/大宅</a:t>
            </a:r>
          </a:p>
        </p:txBody>
      </p:sp>
      <p:sp>
        <p:nvSpPr>
          <p:cNvPr id="204" name="文本框 16"/>
          <p:cNvSpPr txBox="1"/>
          <p:nvPr/>
        </p:nvSpPr>
        <p:spPr>
          <a:xfrm>
            <a:off x="2301603" y="4024749"/>
            <a:ext cx="2466247" cy="1905368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spAutoFit/>
          </a:bodyPr>
          <a:lstStyle/>
          <a:p>
            <a:pPr defTabSz="1828800">
              <a:lnSpc>
                <a:spcPts val="4000"/>
              </a:lnSpc>
              <a:spcBef>
                <a:spcPts val="2400"/>
              </a:spcBef>
              <a:defRPr sz="280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rPr>
              <a:t>零售价</a:t>
            </a:r>
            <a:endParaRPr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微软雅黑 Light" panose="020B0502040204020203" charset="-122"/>
            </a:endParaRPr>
          </a:p>
          <a:p>
            <a:pPr defTabSz="1828800">
              <a:lnSpc>
                <a:spcPct val="100000"/>
              </a:lnSpc>
              <a:spcBef>
                <a:spcPts val="0"/>
              </a:spcBef>
              <a:defRPr sz="2800" i="1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t>5KW</a:t>
            </a:r>
          </a:p>
          <a:p>
            <a:pPr defTabSz="1828800">
              <a:lnSpc>
                <a:spcPts val="4000"/>
              </a:lnSpc>
              <a:spcBef>
                <a:spcPts val="0"/>
              </a:spcBef>
              <a:defRPr sz="2800" i="1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t> </a:t>
            </a:r>
            <a:r>
              <a:rPr b="1">
                <a:solidFill>
                  <a:srgbClr val="C00000"/>
                </a:solidFill>
              </a:rPr>
              <a:t>¥ </a:t>
            </a:r>
            <a:r>
              <a:rPr sz="3600" b="1">
                <a:solidFill>
                  <a:srgbClr val="C00000"/>
                </a:solidFill>
              </a:rPr>
              <a:t>38988</a:t>
            </a:r>
            <a:endParaRPr sz="3600" b="1">
              <a:solidFill>
                <a:srgbClr val="C00000"/>
              </a:solidFill>
            </a:endParaRPr>
          </a:p>
        </p:txBody>
      </p:sp>
      <p:pic>
        <p:nvPicPr>
          <p:cNvPr id="205" name="3.2119.png" descr="3.2119.png"/>
          <p:cNvPicPr>
            <a:picLocks noChangeAspect="1"/>
          </p:cNvPicPr>
          <p:nvPr/>
        </p:nvPicPr>
        <p:blipFill>
          <a:blip r:embed="rId2"/>
          <a:srcRect l="34082" r="34082"/>
          <a:stretch>
            <a:fillRect/>
          </a:stretch>
        </p:blipFill>
        <p:spPr>
          <a:xfrm>
            <a:off x="4882440" y="2712973"/>
            <a:ext cx="3268764" cy="68424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6" name="图片 5" descr="图片 5"/>
          <p:cNvPicPr>
            <a:picLocks noChangeAspect="1"/>
          </p:cNvPicPr>
          <p:nvPr/>
        </p:nvPicPr>
        <p:blipFill>
          <a:blip r:embed="rId3"/>
          <a:srcRect t="6378"/>
          <a:stretch>
            <a:fillRect/>
          </a:stretch>
        </p:blipFill>
        <p:spPr>
          <a:xfrm>
            <a:off x="16342312" y="3660632"/>
            <a:ext cx="6376089" cy="53373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aphicFrame>
        <p:nvGraphicFramePr>
          <p:cNvPr id="207" name="表格 1-1"/>
          <p:cNvGraphicFramePr/>
          <p:nvPr/>
        </p:nvGraphicFramePr>
        <p:xfrm>
          <a:off x="1157508" y="10352992"/>
          <a:ext cx="21972023" cy="1537583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158767"/>
                <a:gridCol w="1058929"/>
                <a:gridCol w="1058931"/>
                <a:gridCol w="1321917"/>
                <a:gridCol w="1231120"/>
                <a:gridCol w="2190391"/>
                <a:gridCol w="1291023"/>
                <a:gridCol w="1610154"/>
                <a:gridCol w="1203989"/>
                <a:gridCol w="1827743"/>
                <a:gridCol w="1145965"/>
                <a:gridCol w="1174978"/>
                <a:gridCol w="1069763"/>
                <a:gridCol w="874026"/>
                <a:gridCol w="812330"/>
                <a:gridCol w="812330"/>
                <a:gridCol w="1116958"/>
              </a:tblGrid>
              <a:tr h="671065">
                <a:tc rowSpan="2">
                  <a:txBody>
                    <a:bodyPr/>
                    <a:lstStyle/>
                    <a:p>
                      <a:pPr algn="l" defTabSz="1828800">
                        <a:defRPr sz="360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defRPr>
                      </a:pPr>
                    </a:p>
                  </a:txBody>
                  <a:tcPr marL="0" marR="0" marT="0" marB="0" horzOverflow="overflow">
                    <a:lnL w="12700">
                      <a:miter lim="400000"/>
                    </a:lnL>
                    <a:lnR w="25400">
                      <a:solidFill>
                        <a:srgbClr val="FFFFFF"/>
                      </a:solidFill>
                    </a:lnR>
                    <a:lnT w="12700">
                      <a:miter lim="400000"/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2A2B"/>
                    </a:solidFill>
                  </a:tcPr>
                </a:tc>
                <a:tc rowSpan="2"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额度容积 (L)</a:t>
                      </a:r>
                      <a:endParaRPr spc="12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12700">
                      <a:miter lim="400000"/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 rowSpan="2"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电源 (V/Hz)</a:t>
                      </a:r>
                      <a:endParaRPr spc="12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12700">
                      <a:miter lim="400000"/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 rowSpan="2"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名义制热量 (W)</a:t>
                      </a:r>
                      <a:endParaRPr spc="12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12700">
                      <a:miter lim="400000"/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 rowSpan="2"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额定输入 功率/电流 (W/A)</a:t>
                      </a:r>
                      <a:endParaRPr spc="12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12700">
                      <a:miter lim="400000"/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 rowSpan="2">
                  <a:txBody>
                    <a:bodyPr/>
                    <a:lstStyle/>
                    <a:p>
                      <a:pPr defTabSz="1828800">
                        <a:def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defRPr>
                      </a:pPr>
                      <a:r>
                        <a:t>辅助电加热</a:t>
                      </a:r>
                    </a:p>
                    <a:p>
                      <a:pPr defTabSz="1828800">
                        <a:def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defRPr>
                      </a:pPr>
                      <a:r>
                        <a:t>额定输入功率/电流</a:t>
                      </a:r>
                      <a:br/>
                      <a:r>
                        <a:t>（W/A）</a:t>
                      </a: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12700">
                      <a:miter lim="400000"/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 rowSpan="2"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最大输入 功率/电流 （W/A）</a:t>
                      </a:r>
                      <a:endParaRPr spc="12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12700">
                      <a:miter lim="400000"/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 rowSpan="2"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内胆额定压力 （MPa）</a:t>
                      </a:r>
                      <a:endParaRPr spc="12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12700">
                      <a:miter lim="400000"/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 rowSpan="2">
                  <a:txBody>
                    <a:bodyPr/>
                    <a:lstStyle/>
                    <a:p>
                      <a:pPr defTabSz="1828800">
                        <a:def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defRPr>
                      </a:pPr>
                      <a:r>
                        <a:t>工作范围</a:t>
                      </a:r>
                    </a:p>
                    <a:p>
                      <a:pPr defTabSz="1828800">
                        <a:def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defRPr>
                      </a:pPr>
                      <a:r>
                        <a:t>（℃）</a:t>
                      </a: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12700">
                      <a:miter lim="400000"/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 rowSpan="2"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制冷剂/充注量 （g）</a:t>
                      </a:r>
                      <a:endParaRPr spc="12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12700">
                      <a:miter lim="400000"/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 rowSpan="2"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噪音值   dB（A）</a:t>
                      </a:r>
                      <a:endParaRPr spc="12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12700">
                      <a:miter lim="400000"/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 rowSpan="2"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能效等级</a:t>
                      </a:r>
                      <a:endParaRPr spc="12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12700">
                      <a:miter lim="400000"/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 rowSpan="2"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防水等级</a:t>
                      </a:r>
                      <a:endParaRPr spc="12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12700">
                      <a:miter lim="400000"/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 gridSpan="3">
                  <a:txBody>
                    <a:bodyPr/>
                    <a:lstStyle/>
                    <a:p>
                      <a:pPr defTabSz="1828800">
                        <a:def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defRPr>
                      </a:pPr>
                      <a:r>
                        <a:t>外形尺寸</a:t>
                      </a:r>
                    </a:p>
                    <a:p>
                      <a:pPr defTabSz="1828800">
                        <a:def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defRPr>
                      </a:pPr>
                      <a:r>
                        <a:t>(mm)</a:t>
                      </a: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12700">
                      <a:miter lim="400000"/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净重 (kg)</a:t>
                      </a:r>
                      <a:endParaRPr spc="12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12700">
                      <a:miter lim="400000"/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</a:tr>
              <a:tr h="406436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A</a:t>
                      </a:r>
                      <a:endParaRPr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B</a:t>
                      </a:r>
                      <a:endParaRPr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 C</a:t>
                      </a:r>
                      <a:endParaRPr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 vMerge="1">
                  <a:tcPr/>
                </a:tc>
              </a:tr>
              <a:tr h="447379"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EHPD400-5207C</a:t>
                      </a:r>
                      <a:endParaRPr spc="12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12700">
                      <a:miter lim="400000"/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12700">
                      <a:miter lim="400000"/>
                    </a:lnB>
                    <a:solidFill>
                      <a:srgbClr val="C62A2B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400</a:t>
                      </a:r>
                      <a:endParaRPr spc="12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220~/50</a:t>
                      </a:r>
                      <a:endParaRPr spc="12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5250</a:t>
                      </a:r>
                      <a:endParaRPr spc="12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1250 / 5.7</a:t>
                      </a:r>
                      <a:endParaRPr spc="12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3600 / 16.4</a:t>
                      </a:r>
                      <a:endParaRPr spc="12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5500 / 25</a:t>
                      </a:r>
                      <a:endParaRPr spc="12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0.8</a:t>
                      </a:r>
                      <a:endParaRPr spc="12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-7~43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R134a / 1380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≤53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1级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IPX4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1950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740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960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180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图像" descr="图像"/>
          <p:cNvPicPr>
            <a:picLocks noChangeAspect="1"/>
          </p:cNvPicPr>
          <p:nvPr/>
        </p:nvPicPr>
        <p:blipFill>
          <a:blip r:embed="rId1"/>
          <a:srcRect t="14805" b="4139"/>
          <a:stretch>
            <a:fillRect/>
          </a:stretch>
        </p:blipFill>
        <p:spPr>
          <a:xfrm>
            <a:off x="0" y="7090"/>
            <a:ext cx="24384000" cy="1370182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10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795" y="1345020"/>
            <a:ext cx="7079577" cy="418202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11" name="图像" descr="图像"/>
          <p:cNvPicPr>
            <a:picLocks noChangeAspect="1"/>
          </p:cNvPicPr>
          <p:nvPr/>
        </p:nvPicPr>
        <p:blipFill>
          <a:blip r:embed="rId3"/>
          <a:srcRect r="25823" b="54070"/>
          <a:stretch>
            <a:fillRect/>
          </a:stretch>
        </p:blipFill>
        <p:spPr>
          <a:xfrm>
            <a:off x="-265935" y="8205094"/>
            <a:ext cx="24808140" cy="55439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2" name="副标题 2"/>
          <p:cNvSpPr txBox="1"/>
          <p:nvPr/>
        </p:nvSpPr>
        <p:spPr>
          <a:xfrm>
            <a:off x="1707094" y="11741131"/>
            <a:ext cx="5393587" cy="939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PDV </a:t>
            </a:r>
            <a:endParaRPr sz="4800"/>
          </a:p>
          <a:p>
            <a:pPr defTabSz="18288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燃气容积式热水器</a:t>
            </a:r>
          </a:p>
        </p:txBody>
      </p:sp>
      <p:pic>
        <p:nvPicPr>
          <p:cNvPr id="213" name="图片 13" descr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578" y="6230458"/>
            <a:ext cx="3298575" cy="6529069"/>
          </a:xfrm>
          <a:prstGeom prst="rect">
            <a:avLst/>
          </a:prstGeom>
          <a:ln w="12700">
            <a:miter lim="400000"/>
            <a:headEnd/>
            <a:tailEnd/>
          </a:ln>
          <a:effectLst>
            <a:outerShdw blurRad="330200" dist="304800" dir="5400000" rotWithShape="0">
              <a:srgbClr val="000000">
                <a:alpha val="25000"/>
              </a:srgbClr>
            </a:outerShdw>
          </a:effectLst>
        </p:spPr>
      </p:pic>
      <p:pic>
        <p:nvPicPr>
          <p:cNvPr id="214" name="图像" descr="图像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2735496" y="10613823"/>
            <a:ext cx="2156543" cy="1265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15" name="图像" descr="图像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4846" y="896544"/>
            <a:ext cx="3128951" cy="1135849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圆角矩形"/>
          <p:cNvSpPr/>
          <p:nvPr/>
        </p:nvSpPr>
        <p:spPr>
          <a:xfrm>
            <a:off x="5956391" y="3493508"/>
            <a:ext cx="9979002" cy="5671423"/>
          </a:xfrm>
          <a:prstGeom prst="roundRect">
            <a:avLst>
              <a:gd name="adj" fmla="val 15324"/>
            </a:avLst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8" name="文本框 4"/>
          <p:cNvSpPr txBox="1"/>
          <p:nvPr/>
        </p:nvSpPr>
        <p:spPr>
          <a:xfrm>
            <a:off x="1596472" y="1325010"/>
            <a:ext cx="10897873" cy="980437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5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>
                <a:solidFill>
                  <a:srgbClr val="AF2D2C"/>
                </a:solidFill>
              </a:rPr>
              <a:t>PDV系列</a:t>
            </a:r>
            <a:r>
              <a:t> 燃气容积式热水器(室内型)</a:t>
            </a:r>
          </a:p>
        </p:txBody>
      </p:sp>
      <p:pic>
        <p:nvPicPr>
          <p:cNvPr id="219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34846" y="896544"/>
            <a:ext cx="3128951" cy="11358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20" name="圆角矩形"/>
          <p:cNvSpPr/>
          <p:nvPr/>
        </p:nvSpPr>
        <p:spPr>
          <a:xfrm>
            <a:off x="8186570" y="3021373"/>
            <a:ext cx="3385200" cy="1120421"/>
          </a:xfrm>
          <a:prstGeom prst="roundRect">
            <a:avLst>
              <a:gd name="adj" fmla="val 28790"/>
            </a:avLst>
          </a:prstGeom>
          <a:solidFill>
            <a:srgbClr val="AF2D2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1" name="核心差异优势"/>
          <p:cNvSpPr txBox="1"/>
          <p:nvPr/>
        </p:nvSpPr>
        <p:spPr>
          <a:xfrm>
            <a:off x="8450419" y="3213283"/>
            <a:ext cx="2857501" cy="7366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核心差异优势</a:t>
            </a:r>
          </a:p>
        </p:txBody>
      </p:sp>
      <p:sp>
        <p:nvSpPr>
          <p:cNvPr id="222" name="Text 0"/>
          <p:cNvSpPr txBox="1"/>
          <p:nvPr/>
        </p:nvSpPr>
        <p:spPr>
          <a:xfrm>
            <a:off x="8265693" y="4525745"/>
            <a:ext cx="7962029" cy="413512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342900" indent="-342900" defTabSz="1828800">
              <a:spcBef>
                <a:spcPts val="1200"/>
              </a:spcBef>
              <a:buClr>
                <a:srgbClr val="C00000"/>
              </a:buClr>
              <a:buSzPct val="100000"/>
              <a:buFont typeface="Arial" panose="020B0604020202020204"/>
              <a:buChar char="•"/>
              <a:defRPr sz="20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平衡式设计，隐藏式安装</a:t>
            </a:r>
          </a:p>
          <a:p>
            <a:pPr marL="342900" indent="-342900" defTabSz="1828800">
              <a:spcBef>
                <a:spcPts val="1200"/>
              </a:spcBef>
              <a:buClr>
                <a:srgbClr val="C00000"/>
              </a:buClr>
              <a:buSzPct val="100000"/>
              <a:buFont typeface="Arial" panose="020B0604020202020204"/>
              <a:buChar char="•"/>
              <a:defRPr sz="20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商用褐金抑菌搪瓷内胆</a:t>
            </a:r>
          </a:p>
          <a:p>
            <a:pPr marL="342900" indent="-342900" defTabSz="1828800">
              <a:spcBef>
                <a:spcPts val="1200"/>
              </a:spcBef>
              <a:buClr>
                <a:srgbClr val="C00000"/>
              </a:buClr>
              <a:buSzPct val="100000"/>
              <a:buFont typeface="Arial" panose="020B0604020202020204"/>
              <a:buChar char="•"/>
              <a:defRPr sz="20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300L商用级大水量</a:t>
            </a:r>
          </a:p>
          <a:p>
            <a:pPr marL="342900" indent="-342900" defTabSz="1828800">
              <a:spcBef>
                <a:spcPts val="1200"/>
              </a:spcBef>
              <a:buClr>
                <a:srgbClr val="C00000"/>
              </a:buClr>
              <a:buSzPct val="100000"/>
              <a:buFont typeface="Arial" panose="020B0604020202020204"/>
              <a:buChar char="•"/>
              <a:defRPr sz="20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超温超压主动防护</a:t>
            </a:r>
          </a:p>
          <a:p>
            <a:pPr marL="342900" indent="-342900" defTabSz="1828800">
              <a:spcBef>
                <a:spcPts val="1200"/>
              </a:spcBef>
              <a:buClr>
                <a:srgbClr val="C00000"/>
              </a:buClr>
              <a:buSzPct val="100000"/>
              <a:buFont typeface="Arial" panose="020B0604020202020204"/>
              <a:buChar char="•"/>
              <a:defRPr sz="20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智能EPS热水管家系统</a:t>
            </a:r>
          </a:p>
          <a:p>
            <a:pPr marL="342900" indent="-342900" defTabSz="1828800">
              <a:spcBef>
                <a:spcPts val="1200"/>
              </a:spcBef>
              <a:buClr>
                <a:srgbClr val="C00000"/>
              </a:buClr>
              <a:buSzPct val="100000"/>
              <a:buFont typeface="Arial" panose="020B0604020202020204"/>
              <a:buChar char="•"/>
              <a:defRPr sz="20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电脉冲点火，便捷又安全</a:t>
            </a:r>
          </a:p>
          <a:p>
            <a:pPr marL="342900" indent="-342900" defTabSz="1828800">
              <a:spcBef>
                <a:spcPts val="1200"/>
              </a:spcBef>
              <a:buClr>
                <a:srgbClr val="C00000"/>
              </a:buClr>
              <a:buSzPct val="100000"/>
              <a:buFont typeface="Arial" panose="020B0604020202020204"/>
              <a:buChar char="•"/>
              <a:defRPr sz="20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低负荷设计，耗气量低，热效率高</a:t>
            </a:r>
          </a:p>
          <a:p>
            <a:pPr marL="342900" indent="-342900" defTabSz="1828800">
              <a:spcBef>
                <a:spcPts val="1200"/>
              </a:spcBef>
              <a:buClr>
                <a:srgbClr val="C00000"/>
              </a:buClr>
              <a:buSzPct val="100000"/>
              <a:buFont typeface="Arial" panose="020B0604020202020204"/>
              <a:buChar char="•"/>
              <a:defRPr sz="20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整机一年，内胆五年</a:t>
            </a:r>
          </a:p>
          <a:p>
            <a:pPr marL="342900" indent="-342900" defTabSz="1828800">
              <a:spcBef>
                <a:spcPts val="1200"/>
              </a:spcBef>
              <a:buClr>
                <a:srgbClr val="C00000"/>
              </a:buClr>
              <a:buSzPct val="100000"/>
              <a:buFont typeface="Arial" panose="020B0604020202020204"/>
              <a:buChar char="•"/>
              <a:defRPr sz="20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平层/复式/别墅/洋房/民宿</a:t>
            </a:r>
          </a:p>
        </p:txBody>
      </p:sp>
      <p:sp>
        <p:nvSpPr>
          <p:cNvPr id="223" name="文本框 16"/>
          <p:cNvSpPr txBox="1"/>
          <p:nvPr/>
        </p:nvSpPr>
        <p:spPr>
          <a:xfrm>
            <a:off x="2301603" y="4024749"/>
            <a:ext cx="2466247" cy="1905368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spAutoFit/>
          </a:bodyPr>
          <a:lstStyle/>
          <a:p>
            <a:pPr defTabSz="1828800">
              <a:lnSpc>
                <a:spcPts val="4000"/>
              </a:lnSpc>
              <a:spcBef>
                <a:spcPts val="2400"/>
              </a:spcBef>
              <a:defRPr sz="280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rPr>
              <a:t>零售价</a:t>
            </a:r>
            <a:endParaRPr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微软雅黑 Light" panose="020B0502040204020203" charset="-122"/>
            </a:endParaRPr>
          </a:p>
          <a:p>
            <a:pPr defTabSz="1828800">
              <a:lnSpc>
                <a:spcPct val="100000"/>
              </a:lnSpc>
              <a:spcBef>
                <a:spcPts val="0"/>
              </a:spcBef>
              <a:defRPr sz="2800" i="1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t>300L</a:t>
            </a:r>
          </a:p>
          <a:p>
            <a:pPr defTabSz="1828800">
              <a:lnSpc>
                <a:spcPts val="4000"/>
              </a:lnSpc>
              <a:spcBef>
                <a:spcPts val="0"/>
              </a:spcBef>
              <a:defRPr sz="2800" i="1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t> </a:t>
            </a:r>
            <a:r>
              <a:rPr b="1">
                <a:solidFill>
                  <a:srgbClr val="C00000"/>
                </a:solidFill>
              </a:rPr>
              <a:t>¥ </a:t>
            </a:r>
            <a:r>
              <a:rPr sz="3600" b="1">
                <a:solidFill>
                  <a:srgbClr val="C00000"/>
                </a:solidFill>
              </a:rPr>
              <a:t>33658</a:t>
            </a:r>
            <a:endParaRPr sz="3600" b="1">
              <a:solidFill>
                <a:srgbClr val="C00000"/>
              </a:solidFill>
            </a:endParaRPr>
          </a:p>
        </p:txBody>
      </p:sp>
      <p:pic>
        <p:nvPicPr>
          <p:cNvPr id="224" name="图片 20" descr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5055" y="3982363"/>
            <a:ext cx="5514042" cy="469371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25" name="图片 18" descr="图片 18"/>
          <p:cNvPicPr>
            <a:picLocks noChangeAspect="1"/>
          </p:cNvPicPr>
          <p:nvPr/>
        </p:nvPicPr>
        <p:blipFill>
          <a:blip r:embed="rId3"/>
          <a:srcRect r="31926"/>
          <a:stretch>
            <a:fillRect/>
          </a:stretch>
        </p:blipFill>
        <p:spPr>
          <a:xfrm>
            <a:off x="5312480" y="2641553"/>
            <a:ext cx="2359337" cy="6860181"/>
          </a:xfrm>
          <a:prstGeom prst="rect">
            <a:avLst/>
          </a:prstGeom>
          <a:ln w="12700">
            <a:miter lim="400000"/>
            <a:headEnd/>
            <a:tailEnd/>
          </a:ln>
          <a:effectLst>
            <a:outerShdw blurRad="330200" dist="304800" dir="5400000" rotWithShape="0">
              <a:srgbClr val="000000">
                <a:alpha val="25000"/>
              </a:srgbClr>
            </a:outerShdw>
          </a:effectLst>
        </p:spPr>
      </p:pic>
      <p:graphicFrame>
        <p:nvGraphicFramePr>
          <p:cNvPr id="226" name="表格 1-1"/>
          <p:cNvGraphicFramePr/>
          <p:nvPr/>
        </p:nvGraphicFramePr>
        <p:xfrm>
          <a:off x="1418050" y="10352992"/>
          <a:ext cx="21560601" cy="143334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385290"/>
                <a:gridCol w="1576918"/>
                <a:gridCol w="1280651"/>
                <a:gridCol w="1783764"/>
                <a:gridCol w="1509338"/>
                <a:gridCol w="1783764"/>
                <a:gridCol w="2058187"/>
                <a:gridCol w="1509338"/>
                <a:gridCol w="1257780"/>
                <a:gridCol w="1257780"/>
                <a:gridCol w="1509338"/>
                <a:gridCol w="1234912"/>
                <a:gridCol w="1509338"/>
                <a:gridCol w="891496"/>
              </a:tblGrid>
              <a:tr h="793549">
                <a:tc>
                  <a:txBody>
                    <a:bodyPr/>
                    <a:lstStyle/>
                    <a:p>
                      <a:pPr algn="l" defTabSz="1828800">
                        <a:defRPr sz="360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defRPr>
                      </a:pPr>
                    </a:p>
                  </a:txBody>
                  <a:tcPr marL="0" marR="0" marT="0" marB="0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2A2B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额度容积 (L)</a:t>
                      </a:r>
                      <a:endParaRPr spc="12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电源 (V/Hz)</a:t>
                      </a:r>
                      <a:endParaRPr spc="12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>
                        <a:def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defRPr>
                      </a:pPr>
                      <a:r>
                        <a:t>额定燃气气压</a:t>
                      </a:r>
                    </a:p>
                    <a:p>
                      <a:pPr defTabSz="1828800">
                        <a:def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defRPr>
                      </a:pPr>
                      <a:r>
                        <a:t>(pa)</a:t>
                      </a: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额定电功率 (W)</a:t>
                      </a:r>
                      <a:endParaRPr spc="12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最高进水压力 （Mpa）</a:t>
                      </a:r>
                      <a:endParaRPr spc="12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安全阀额定压力 （Mpa）</a:t>
                      </a:r>
                      <a:endParaRPr spc="12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>
                        <a:def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defRPr>
                      </a:pPr>
                      <a:r>
                        <a:t>额定热负荷</a:t>
                      </a:r>
                      <a:endParaRPr b="1" spc="6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  <a:p>
                      <a:pPr defTabSz="1828800">
                        <a:def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defRPr>
                      </a:pPr>
                      <a:r>
                        <a:t>（KW）</a:t>
                      </a: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>
                        <a:def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defRPr>
                      </a:pPr>
                      <a:r>
                        <a:t>高度</a:t>
                      </a:r>
                      <a:endParaRPr b="1" spc="6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  <a:p>
                      <a:pPr defTabSz="1828800">
                        <a:def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defRPr>
                      </a:pPr>
                      <a:r>
                        <a:t> （mm）</a:t>
                      </a: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>
                        <a:def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defRPr>
                      </a:pPr>
                      <a:r>
                        <a:t>直径</a:t>
                      </a:r>
                      <a:endParaRPr b="1" spc="6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  <a:p>
                      <a:pPr defTabSz="1828800">
                        <a:def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defRPr>
                      </a:pPr>
                      <a:r>
                        <a:t> （mm）</a:t>
                      </a: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冷热水尺寸 (mm)</a:t>
                      </a:r>
                      <a:endParaRPr spc="12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燃气尺寸 (mm)</a:t>
                      </a:r>
                      <a:endParaRPr spc="12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安全阀尺寸 (mm)</a:t>
                      </a:r>
                      <a:endParaRPr spc="12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净重 (kg)</a:t>
                      </a:r>
                      <a:endParaRPr spc="12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C63133"/>
                    </a:solidFill>
                  </a:tcPr>
                </a:tc>
              </a:tr>
              <a:tr h="627090"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EDGS300-PDV</a:t>
                      </a:r>
                      <a:endParaRPr spc="12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  <a:solidFill>
                      <a:srgbClr val="C62A2B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pc="12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300</a:t>
                      </a:r>
                      <a:endParaRPr spc="12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220~50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45720" marR="4572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2000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45720" marR="4572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50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45720" marR="4572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0.68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45720" marR="4572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0.85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45720" marR="4572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1828800">
                        <a:defRPr spc="12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defRPr>
                      </a:pPr>
                      <a:r>
                        <a:t>19</a:t>
                      </a: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2438400">
                        <a:defRPr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defRPr>
                      </a:pPr>
                      <a:r>
                        <a:t>2124</a:t>
                      </a: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610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RP1¼/32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G½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2438400"/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RP¾/20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2438400">
                        <a:defRPr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defRPr>
                      </a:pPr>
                      <a:r>
                        <a:t>114</a:t>
                      </a:r>
                    </a:p>
                  </a:txBody>
                  <a:tcPr marL="0" marR="0" marT="0" marB="0" anchor="ctr" horzOverflow="overflow">
                    <a:lnL w="25400">
                      <a:solidFill>
                        <a:srgbClr val="C00000"/>
                      </a:solidFill>
                    </a:lnL>
                    <a:lnR w="25400">
                      <a:solidFill>
                        <a:srgbClr val="C00000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C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图像" descr="图像"/>
          <p:cNvPicPr>
            <a:picLocks noChangeAspect="1"/>
          </p:cNvPicPr>
          <p:nvPr/>
        </p:nvPicPr>
        <p:blipFill>
          <a:blip r:embed="rId1"/>
          <a:srcRect t="9124" b="25"/>
          <a:stretch>
            <a:fillRect/>
          </a:stretch>
        </p:blipFill>
        <p:spPr>
          <a:xfrm>
            <a:off x="12453399" y="-4215"/>
            <a:ext cx="11950924" cy="1372443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29" name="文本框 4"/>
          <p:cNvSpPr txBox="1"/>
          <p:nvPr/>
        </p:nvSpPr>
        <p:spPr>
          <a:xfrm>
            <a:off x="1596472" y="1325010"/>
            <a:ext cx="10897873" cy="1869437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5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恒热全系产品采用</a:t>
            </a:r>
            <a:endParaRPr>
              <a:solidFill>
                <a:srgbClr val="AF2D2C"/>
              </a:solidFill>
            </a:endParaRPr>
          </a:p>
          <a:p>
            <a:pPr defTabSz="914400">
              <a:lnSpc>
                <a:spcPct val="100000"/>
              </a:lnSpc>
              <a:spcBef>
                <a:spcPts val="0"/>
              </a:spcBef>
              <a:defRPr sz="5000" b="1">
                <a:solidFill>
                  <a:srgbClr val="AF2D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商用级褐金搪瓷内胆</a:t>
            </a:r>
          </a:p>
        </p:txBody>
      </p:sp>
      <p:pic>
        <p:nvPicPr>
          <p:cNvPr id="230" name="图片 5" descr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989" y="4212463"/>
            <a:ext cx="1374545" cy="1296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31" name="图片 7" descr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987" y="7032038"/>
            <a:ext cx="1374549" cy="1296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32" name="图片 9" descr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987" y="9657026"/>
            <a:ext cx="1374549" cy="1296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33" name="文本框 12"/>
          <p:cNvSpPr txBox="1"/>
          <p:nvPr/>
        </p:nvSpPr>
        <p:spPr>
          <a:xfrm>
            <a:off x="3248870" y="4335765"/>
            <a:ext cx="2329181" cy="943865"/>
          </a:xfrm>
          <a:prstGeom prst="rect">
            <a:avLst/>
          </a:prstGeom>
          <a:ln w="12700">
            <a:miter lim="400000"/>
          </a:ln>
        </p:spPr>
        <p:txBody>
          <a:bodyPr wrap="none" tIns="91439" bIns="91439">
            <a:spAutoFit/>
          </a:bodyPr>
          <a:lstStyle/>
          <a:p>
            <a:pPr defTabSz="1828800">
              <a:lnSpc>
                <a:spcPts val="2800"/>
              </a:lnSpc>
              <a:spcBef>
                <a:spcPts val="0"/>
              </a:spcBef>
              <a:defRPr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Plus One</a:t>
            </a:r>
          </a:p>
          <a:p>
            <a:pPr defTabSz="1828800">
              <a:lnSpc>
                <a:spcPts val="2800"/>
              </a:lnSpc>
              <a:spcBef>
                <a:spcPts val="0"/>
              </a:spcBef>
              <a:defRPr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多层喷涂保护</a:t>
            </a:r>
          </a:p>
        </p:txBody>
      </p:sp>
      <p:sp>
        <p:nvSpPr>
          <p:cNvPr id="234" name="文本框 13"/>
          <p:cNvSpPr txBox="1"/>
          <p:nvPr/>
        </p:nvSpPr>
        <p:spPr>
          <a:xfrm>
            <a:off x="3268924" y="5201813"/>
            <a:ext cx="6339123" cy="1264921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spAutoFit/>
          </a:bodyPr>
          <a:lstStyle>
            <a:lvl1pPr algn="just" defTabSz="1828800">
              <a:lnSpc>
                <a:spcPts val="2800"/>
              </a:lnSpc>
              <a:spcBef>
                <a:spcPts val="0"/>
              </a:spcBef>
              <a:defRPr sz="20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lvl1pPr>
          </a:lstStyle>
          <a:p>
            <a:r>
              <a:t>采用美式喷涂工艺及美国生产标准，多层搪瓷喷涂覆盖。附着层选用低碳、抗鳞爆的专用搪瓷钢板，能与搪瓷涂层紧密结合</a:t>
            </a:r>
          </a:p>
        </p:txBody>
      </p:sp>
      <p:sp>
        <p:nvSpPr>
          <p:cNvPr id="235" name="文本框 14"/>
          <p:cNvSpPr txBox="1"/>
          <p:nvPr/>
        </p:nvSpPr>
        <p:spPr>
          <a:xfrm>
            <a:off x="3248870" y="7157294"/>
            <a:ext cx="2329181" cy="1122681"/>
          </a:xfrm>
          <a:prstGeom prst="rect">
            <a:avLst/>
          </a:prstGeom>
          <a:ln w="12700">
            <a:miter lim="400000"/>
          </a:ln>
        </p:spPr>
        <p:txBody>
          <a:bodyPr wrap="none" tIns="91439" bIns="91439">
            <a:sp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Plus One</a:t>
            </a:r>
          </a:p>
          <a:p>
            <a:pPr defTabSz="1828800">
              <a:lnSpc>
                <a:spcPct val="100000"/>
              </a:lnSpc>
              <a:spcBef>
                <a:spcPts val="0"/>
              </a:spcBef>
              <a:defRPr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专用搪瓷钢板</a:t>
            </a:r>
          </a:p>
        </p:txBody>
      </p:sp>
      <p:sp>
        <p:nvSpPr>
          <p:cNvPr id="236" name="文本框 15"/>
          <p:cNvSpPr txBox="1"/>
          <p:nvPr/>
        </p:nvSpPr>
        <p:spPr>
          <a:xfrm>
            <a:off x="3268924" y="8270556"/>
            <a:ext cx="6135923" cy="1264921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spAutoFit/>
          </a:bodyPr>
          <a:lstStyle/>
          <a:p>
            <a:pPr algn="just" defTabSz="1828800">
              <a:lnSpc>
                <a:spcPts val="2800"/>
              </a:lnSpc>
              <a:spcBef>
                <a:spcPts val="0"/>
              </a:spcBef>
              <a:defRPr sz="20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专用搪瓷钢板屈服强度高达412MPa，搪瓷涂层与覆盖的钢板有相同的膨胀系数，避免内胆因热胀冷缩而导致龟裂</a:t>
            </a:r>
          </a:p>
        </p:txBody>
      </p:sp>
      <p:sp>
        <p:nvSpPr>
          <p:cNvPr id="237" name="文本框 17"/>
          <p:cNvSpPr txBox="1"/>
          <p:nvPr/>
        </p:nvSpPr>
        <p:spPr>
          <a:xfrm>
            <a:off x="3248870" y="9917788"/>
            <a:ext cx="1736920" cy="943865"/>
          </a:xfrm>
          <a:prstGeom prst="rect">
            <a:avLst/>
          </a:prstGeom>
          <a:ln w="12700">
            <a:miter lim="400000"/>
          </a:ln>
        </p:spPr>
        <p:txBody>
          <a:bodyPr wrap="none" tIns="91439" bIns="91439">
            <a:spAutoFit/>
          </a:bodyPr>
          <a:lstStyle/>
          <a:p>
            <a:pPr defTabSz="1828800">
              <a:lnSpc>
                <a:spcPts val="2800"/>
              </a:lnSpc>
              <a:spcBef>
                <a:spcPts val="0"/>
              </a:spcBef>
              <a:defRPr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Plus One</a:t>
            </a:r>
          </a:p>
          <a:p>
            <a:pPr defTabSz="1828800">
              <a:lnSpc>
                <a:spcPts val="2800"/>
              </a:lnSpc>
              <a:spcBef>
                <a:spcPts val="0"/>
              </a:spcBef>
              <a:defRPr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抑菌防护</a:t>
            </a:r>
          </a:p>
        </p:txBody>
      </p:sp>
      <p:sp>
        <p:nvSpPr>
          <p:cNvPr id="238" name="文本框 18"/>
          <p:cNvSpPr txBox="1"/>
          <p:nvPr/>
        </p:nvSpPr>
        <p:spPr>
          <a:xfrm>
            <a:off x="3268924" y="10849764"/>
            <a:ext cx="6746074" cy="909322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spAutoFit/>
          </a:bodyPr>
          <a:lstStyle/>
          <a:p>
            <a:pPr algn="just" defTabSz="1828800">
              <a:lnSpc>
                <a:spcPts val="2800"/>
              </a:lnSpc>
              <a:spcBef>
                <a:spcPts val="0"/>
              </a:spcBef>
              <a:defRPr sz="20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16万次脉冲打压，1.6MPa高承压测试</a:t>
            </a:r>
          </a:p>
          <a:p>
            <a:pPr algn="just" defTabSz="1828800">
              <a:lnSpc>
                <a:spcPts val="2800"/>
              </a:lnSpc>
              <a:spcBef>
                <a:spcPts val="0"/>
              </a:spcBef>
              <a:defRPr sz="20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搪瓷涂层，有效抑制细菌滋生与附着，让用水更健康</a:t>
            </a:r>
          </a:p>
        </p:txBody>
      </p:sp>
      <p:pic>
        <p:nvPicPr>
          <p:cNvPr id="239" name="图像" descr="图像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34846" y="896544"/>
            <a:ext cx="3128951" cy="1135849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picture 2182" descr="picture 2182"/>
          <p:cNvPicPr>
            <a:picLocks noChangeAspect="1"/>
          </p:cNvPicPr>
          <p:nvPr/>
        </p:nvPicPr>
        <p:blipFill>
          <a:blip r:embed="rId1"/>
          <a:srcRect l="20023" r="5397"/>
          <a:stretch>
            <a:fillRect/>
          </a:stretch>
        </p:blipFill>
        <p:spPr>
          <a:xfrm>
            <a:off x="11050621" y="-43028"/>
            <a:ext cx="13373082" cy="13802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42" name="文本框 4"/>
          <p:cNvSpPr txBox="1"/>
          <p:nvPr/>
        </p:nvSpPr>
        <p:spPr>
          <a:xfrm>
            <a:off x="1596472" y="1325010"/>
            <a:ext cx="10897873" cy="1742437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5000" b="1">
                <a:solidFill>
                  <a:srgbClr val="AF2D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EVERHOT GLOBAL CASE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defRPr sz="5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恒热全球案例</a:t>
            </a:r>
          </a:p>
        </p:txBody>
      </p:sp>
      <p:grpSp>
        <p:nvGrpSpPr>
          <p:cNvPr id="249" name="组合 19"/>
          <p:cNvGrpSpPr/>
          <p:nvPr/>
        </p:nvGrpSpPr>
        <p:grpSpPr>
          <a:xfrm>
            <a:off x="1810771" y="6649915"/>
            <a:ext cx="4400757" cy="3806508"/>
            <a:chOff x="0" y="2465898"/>
            <a:chExt cx="4400756" cy="3806507"/>
          </a:xfrm>
        </p:grpSpPr>
        <p:pic>
          <p:nvPicPr>
            <p:cNvPr id="244" name="图片 2" descr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5" y="3770431"/>
              <a:ext cx="4400131" cy="250197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sp>
          <p:nvSpPr>
            <p:cNvPr id="246" name="textbox 748"/>
            <p:cNvSpPr/>
            <p:nvPr/>
          </p:nvSpPr>
          <p:spPr>
            <a:xfrm>
              <a:off x="0" y="2465898"/>
              <a:ext cx="4400131" cy="923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sp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2000">
                  <a:solidFill>
                    <a:srgbClr val="26262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dirty="0"/>
            </a:p>
            <a:p>
              <a:pPr indent="25400" defTabSz="1828800">
                <a:lnSpc>
                  <a:spcPct val="100000"/>
                </a:lnSpc>
                <a:spcBef>
                  <a:spcPts val="0"/>
                </a:spcBef>
                <a:defRPr sz="2000" spc="18">
                  <a:solidFill>
                    <a:srgbClr val="26262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洛杉矶比佛利山庄</a:t>
              </a:r>
              <a:endPara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indent="25400" defTabSz="1828800">
                <a:lnSpc>
                  <a:spcPct val="100000"/>
                </a:lnSpc>
                <a:spcBef>
                  <a:spcPts val="0"/>
                </a:spcBef>
                <a:defRPr sz="2000" spc="18">
                  <a:solidFill>
                    <a:srgbClr val="26262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en-US" altLang="zh-CN" dirty="0"/>
                <a:t>Beverly</a:t>
              </a:r>
              <a:r>
                <a:rPr dirty="0"/>
                <a:t> </a:t>
              </a:r>
              <a:r>
                <a:rPr lang="en-US" altLang="zh-CN" dirty="0"/>
                <a:t>Hills</a:t>
              </a:r>
              <a:r>
                <a:rPr lang="zh-CN" altLang="en-US" dirty="0"/>
                <a:t>，</a:t>
              </a:r>
              <a:r>
                <a:rPr lang="en-US" altLang="zh-CN" dirty="0"/>
                <a:t>Los Angeles</a:t>
              </a:r>
              <a:endParaRPr dirty="0"/>
            </a:p>
          </p:txBody>
        </p:sp>
        <p:sp>
          <p:nvSpPr>
            <p:cNvPr id="247" name="textbox 748"/>
            <p:cNvSpPr/>
            <p:nvPr/>
          </p:nvSpPr>
          <p:spPr>
            <a:xfrm>
              <a:off x="0" y="6161003"/>
              <a:ext cx="325129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sp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2000">
                  <a:solidFill>
                    <a:srgbClr val="26262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</a:p>
            <a:p>
              <a:pPr indent="25400" defTabSz="1828800">
                <a:lnSpc>
                  <a:spcPct val="100000"/>
                </a:lnSpc>
                <a:spcBef>
                  <a:spcPts val="0"/>
                </a:spcBef>
                <a:defRPr sz="2000" spc="18">
                  <a:solidFill>
                    <a:srgbClr val="26262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美国白宫</a:t>
              </a: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indent="25400" defTabSz="1828800">
                <a:lnSpc>
                  <a:spcPct val="100000"/>
                </a:lnSpc>
                <a:spcBef>
                  <a:spcPts val="0"/>
                </a:spcBef>
                <a:defRPr sz="2000" spc="18">
                  <a:solidFill>
                    <a:srgbClr val="26262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t>THE WHITE HOUSE</a:t>
              </a:r>
            </a:p>
          </p:txBody>
        </p:sp>
      </p:grpSp>
      <p:pic>
        <p:nvPicPr>
          <p:cNvPr id="250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4846" y="896544"/>
            <a:ext cx="3128951" cy="11358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771" y="3961336"/>
            <a:ext cx="4400132" cy="265942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文本框 4"/>
          <p:cNvSpPr txBox="1"/>
          <p:nvPr/>
        </p:nvSpPr>
        <p:spPr>
          <a:xfrm>
            <a:off x="1596472" y="1325010"/>
            <a:ext cx="10897873" cy="1631212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5000" b="1">
                <a:solidFill>
                  <a:srgbClr val="AF2D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dirty="0"/>
              <a:t>EVERHOT TYPICAL CASE</a:t>
            </a:r>
            <a:endParaRPr dirty="0"/>
          </a:p>
          <a:p>
            <a:pPr defTabSz="914400">
              <a:lnSpc>
                <a:spcPct val="100000"/>
              </a:lnSpc>
              <a:spcBef>
                <a:spcPts val="0"/>
              </a:spcBef>
              <a:defRPr sz="5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dirty="0" err="1"/>
              <a:t>恒热</a:t>
            </a:r>
            <a:r>
              <a:rPr lang="zh-CN" altLang="en-US" dirty="0"/>
              <a:t>经典</a:t>
            </a:r>
            <a:r>
              <a:rPr dirty="0" err="1"/>
              <a:t>案例分享</a:t>
            </a:r>
            <a:endParaRPr dirty="0"/>
          </a:p>
        </p:txBody>
      </p:sp>
      <p:pic>
        <p:nvPicPr>
          <p:cNvPr id="293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34846" y="896544"/>
            <a:ext cx="3128951" cy="11358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圆角矩形 4"/>
          <p:cNvSpPr/>
          <p:nvPr/>
        </p:nvSpPr>
        <p:spPr>
          <a:xfrm>
            <a:off x="2300782" y="3431540"/>
            <a:ext cx="3942080" cy="2495550"/>
          </a:xfrm>
          <a:prstGeom prst="roundRect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7540802" y="3431540"/>
            <a:ext cx="3942080" cy="2495550"/>
          </a:xfrm>
          <a:prstGeom prst="roundRect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2780822" y="3431540"/>
            <a:ext cx="3942080" cy="2495550"/>
          </a:xfrm>
          <a:prstGeom prst="roundRect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18020842" y="3431540"/>
            <a:ext cx="3942080" cy="2495550"/>
          </a:xfrm>
          <a:prstGeom prst="roundRect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2301875" y="6658610"/>
            <a:ext cx="3942080" cy="2495550"/>
          </a:xfrm>
          <a:prstGeom prst="roundRect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2" name="textbox 748"/>
          <p:cNvSpPr/>
          <p:nvPr/>
        </p:nvSpPr>
        <p:spPr>
          <a:xfrm>
            <a:off x="2071756" y="6139375"/>
            <a:ext cx="4400132" cy="307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zh-CN" altLang="en-US" dirty="0"/>
              <a:t>上海海泰北外滩</a:t>
            </a:r>
            <a:endParaRPr lang="zh-CN" altLang="en-US" dirty="0"/>
          </a:p>
        </p:txBody>
      </p:sp>
      <p:sp>
        <p:nvSpPr>
          <p:cNvPr id="84" name="textbox 748"/>
          <p:cNvSpPr/>
          <p:nvPr/>
        </p:nvSpPr>
        <p:spPr>
          <a:xfrm>
            <a:off x="7311776" y="6139375"/>
            <a:ext cx="4400132" cy="307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zh-CN" altLang="en-US" dirty="0"/>
              <a:t>上海汤城一品</a:t>
            </a:r>
            <a:endParaRPr lang="zh-CN" altLang="en-US" dirty="0"/>
          </a:p>
        </p:txBody>
      </p:sp>
      <p:sp>
        <p:nvSpPr>
          <p:cNvPr id="85" name="textbox 748"/>
          <p:cNvSpPr/>
          <p:nvPr/>
        </p:nvSpPr>
        <p:spPr>
          <a:xfrm>
            <a:off x="12551796" y="6139375"/>
            <a:ext cx="4400132" cy="307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zh-CN" altLang="en-US" dirty="0"/>
              <a:t>上海绿城玫瑰园</a:t>
            </a:r>
            <a:endParaRPr lang="zh-CN" altLang="en-US" dirty="0"/>
          </a:p>
        </p:txBody>
      </p:sp>
      <p:sp>
        <p:nvSpPr>
          <p:cNvPr id="86" name="textbox 748"/>
          <p:cNvSpPr/>
          <p:nvPr/>
        </p:nvSpPr>
        <p:spPr>
          <a:xfrm>
            <a:off x="17791816" y="6139375"/>
            <a:ext cx="4400132" cy="307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zh-CN" altLang="en-US" dirty="0"/>
              <a:t>成都麓湖别墅</a:t>
            </a:r>
            <a:endParaRPr lang="zh-CN" altLang="en-US" dirty="0"/>
          </a:p>
        </p:txBody>
      </p:sp>
      <p:sp>
        <p:nvSpPr>
          <p:cNvPr id="87" name="textbox 748"/>
          <p:cNvSpPr/>
          <p:nvPr/>
        </p:nvSpPr>
        <p:spPr>
          <a:xfrm>
            <a:off x="2085091" y="9355015"/>
            <a:ext cx="4400132" cy="307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zh-CN" altLang="en-US" dirty="0"/>
              <a:t>成都蔚蓝卡地亚</a:t>
            </a:r>
            <a:endParaRPr lang="zh-CN" altLang="en-US" dirty="0"/>
          </a:p>
        </p:txBody>
      </p:sp>
      <p:sp>
        <p:nvSpPr>
          <p:cNvPr id="90" name="圆角矩形 89"/>
          <p:cNvSpPr/>
          <p:nvPr/>
        </p:nvSpPr>
        <p:spPr>
          <a:xfrm>
            <a:off x="7540802" y="6658610"/>
            <a:ext cx="3942080" cy="2495550"/>
          </a:xfrm>
          <a:prstGeom prst="roundRect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1" name="圆角矩形 90"/>
          <p:cNvSpPr/>
          <p:nvPr/>
        </p:nvSpPr>
        <p:spPr>
          <a:xfrm>
            <a:off x="12780822" y="6658610"/>
            <a:ext cx="3942080" cy="2495550"/>
          </a:xfrm>
          <a:prstGeom prst="roundRect">
            <a:avLst/>
          </a:prstGeom>
          <a:blipFill rotWithShape="1">
            <a:blip r:embed="rId8"/>
            <a:stretch>
              <a:fillRect/>
            </a:stretch>
          </a:blip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2" name="圆角矩形 91"/>
          <p:cNvSpPr/>
          <p:nvPr/>
        </p:nvSpPr>
        <p:spPr>
          <a:xfrm>
            <a:off x="18023840" y="6658610"/>
            <a:ext cx="3942080" cy="2495550"/>
          </a:xfrm>
          <a:prstGeom prst="roundRect">
            <a:avLst/>
          </a:prstGeom>
          <a:blipFill rotWithShape="1">
            <a:blip r:embed="rId9"/>
            <a:stretch>
              <a:fillRect/>
            </a:stretch>
          </a:blip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3" name="圆角矩形 92"/>
          <p:cNvSpPr/>
          <p:nvPr/>
        </p:nvSpPr>
        <p:spPr>
          <a:xfrm>
            <a:off x="2303145" y="9862820"/>
            <a:ext cx="3942080" cy="2495550"/>
          </a:xfrm>
          <a:prstGeom prst="roundRect">
            <a:avLst/>
          </a:prstGeom>
          <a:blipFill rotWithShape="1">
            <a:blip r:embed="rId10"/>
            <a:stretch>
              <a:fillRect/>
            </a:stretch>
          </a:blip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4" name="圆角矩形 93"/>
          <p:cNvSpPr/>
          <p:nvPr/>
        </p:nvSpPr>
        <p:spPr>
          <a:xfrm>
            <a:off x="7540802" y="9874250"/>
            <a:ext cx="3942080" cy="2495550"/>
          </a:xfrm>
          <a:prstGeom prst="roundRect">
            <a:avLst/>
          </a:prstGeom>
          <a:blipFill rotWithShape="1">
            <a:blip r:embed="rId11"/>
            <a:stretch>
              <a:fillRect/>
            </a:stretch>
          </a:blip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5" name="textbox 748"/>
          <p:cNvSpPr/>
          <p:nvPr/>
        </p:nvSpPr>
        <p:spPr>
          <a:xfrm>
            <a:off x="7311776" y="9366445"/>
            <a:ext cx="4400132" cy="307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zh-CN" altLang="en-US" dirty="0"/>
              <a:t>深圳湾1号</a:t>
            </a:r>
            <a:endParaRPr lang="zh-CN" altLang="en-US" dirty="0"/>
          </a:p>
        </p:txBody>
      </p:sp>
      <p:sp>
        <p:nvSpPr>
          <p:cNvPr id="96" name="textbox 748"/>
          <p:cNvSpPr/>
          <p:nvPr/>
        </p:nvSpPr>
        <p:spPr>
          <a:xfrm>
            <a:off x="12551796" y="9366445"/>
            <a:ext cx="4400132" cy="307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zh-CN" altLang="en-US" dirty="0"/>
              <a:t>上海养云安缦</a:t>
            </a:r>
            <a:endParaRPr lang="zh-CN" altLang="en-US" dirty="0"/>
          </a:p>
        </p:txBody>
      </p:sp>
      <p:sp>
        <p:nvSpPr>
          <p:cNvPr id="97" name="textbox 748"/>
          <p:cNvSpPr/>
          <p:nvPr/>
        </p:nvSpPr>
        <p:spPr>
          <a:xfrm>
            <a:off x="17791816" y="9366445"/>
            <a:ext cx="4400132" cy="307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zh-CN" altLang="en-US" dirty="0"/>
              <a:t>上海海鸥丽晶</a:t>
            </a:r>
            <a:endParaRPr lang="zh-CN" altLang="en-US" dirty="0"/>
          </a:p>
        </p:txBody>
      </p:sp>
      <p:sp>
        <p:nvSpPr>
          <p:cNvPr id="98" name="textbox 748"/>
          <p:cNvSpPr/>
          <p:nvPr/>
        </p:nvSpPr>
        <p:spPr>
          <a:xfrm>
            <a:off x="2080011" y="12570655"/>
            <a:ext cx="4400132" cy="307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zh-CN" altLang="en-US" dirty="0"/>
              <a:t>上海建业里嘉佩乐</a:t>
            </a:r>
            <a:endParaRPr lang="zh-CN" altLang="en-US" dirty="0"/>
          </a:p>
        </p:txBody>
      </p:sp>
      <p:sp>
        <p:nvSpPr>
          <p:cNvPr id="99" name="textbox 748"/>
          <p:cNvSpPr/>
          <p:nvPr/>
        </p:nvSpPr>
        <p:spPr>
          <a:xfrm>
            <a:off x="7311776" y="12573195"/>
            <a:ext cx="4400132" cy="307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zh-CN" altLang="en-US" dirty="0"/>
              <a:t>上海乐高乐园度假酒店</a:t>
            </a:r>
            <a:endParaRPr lang="zh-CN" altLang="en-US" dirty="0"/>
          </a:p>
        </p:txBody>
      </p:sp>
      <p:sp>
        <p:nvSpPr>
          <p:cNvPr id="100" name="圆角矩形 99"/>
          <p:cNvSpPr/>
          <p:nvPr/>
        </p:nvSpPr>
        <p:spPr>
          <a:xfrm>
            <a:off x="12780822" y="9865360"/>
            <a:ext cx="3942080" cy="2495550"/>
          </a:xfrm>
          <a:prstGeom prst="roundRect">
            <a:avLst/>
          </a:prstGeom>
          <a:blipFill rotWithShape="1">
            <a:blip r:embed="rId12"/>
            <a:stretch>
              <a:fillRect/>
            </a:stretch>
          </a:blip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1" name="圆角矩形 100"/>
          <p:cNvSpPr/>
          <p:nvPr/>
        </p:nvSpPr>
        <p:spPr>
          <a:xfrm>
            <a:off x="18025745" y="9865360"/>
            <a:ext cx="3942080" cy="2495550"/>
          </a:xfrm>
          <a:prstGeom prst="roundRect">
            <a:avLst/>
          </a:prstGeom>
          <a:blipFill rotWithShape="1">
            <a:blip r:embed="rId13"/>
            <a:stretch>
              <a:fillRect/>
            </a:stretch>
          </a:blip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5" name="textbox 748"/>
          <p:cNvSpPr/>
          <p:nvPr/>
        </p:nvSpPr>
        <p:spPr>
          <a:xfrm>
            <a:off x="12551796" y="12573195"/>
            <a:ext cx="4400132" cy="307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zh-CN" altLang="en-US" dirty="0"/>
              <a:t>丽江悦榕庄</a:t>
            </a:r>
            <a:endParaRPr lang="zh-CN" altLang="en-US" dirty="0"/>
          </a:p>
        </p:txBody>
      </p:sp>
      <p:sp>
        <p:nvSpPr>
          <p:cNvPr id="106" name="textbox 748"/>
          <p:cNvSpPr/>
          <p:nvPr/>
        </p:nvSpPr>
        <p:spPr>
          <a:xfrm>
            <a:off x="17791816" y="12573195"/>
            <a:ext cx="4400132" cy="307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zh-CN" altLang="en-US" dirty="0"/>
              <a:t>三亚万丽度假酒店</a:t>
            </a:r>
            <a:endParaRPr lang="zh-CN" altLang="en-US" dirty="0"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图片 2" descr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96" name="文本框 4"/>
          <p:cNvSpPr txBox="1"/>
          <p:nvPr/>
        </p:nvSpPr>
        <p:spPr>
          <a:xfrm>
            <a:off x="1596472" y="1325010"/>
            <a:ext cx="10897873" cy="861770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5000" b="1">
                <a:solidFill>
                  <a:srgbClr val="AF2D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dirty="0"/>
              <a:t>360°+1</a:t>
            </a:r>
            <a:r>
              <a:rPr lang="zh-CN" altLang="en-US" dirty="0"/>
              <a:t>全周期守护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297" name="Text 0"/>
          <p:cNvSpPr txBox="1"/>
          <p:nvPr/>
        </p:nvSpPr>
        <p:spPr>
          <a:xfrm>
            <a:off x="1636763" y="2470436"/>
            <a:ext cx="7849053" cy="7974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defTabSz="1828800">
              <a:lnSpc>
                <a:spcPts val="3200"/>
              </a:lnSpc>
              <a:spcBef>
                <a:spcPts val="0"/>
              </a:spcBef>
              <a:defRPr sz="26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zh-CN" altLang="en-US" dirty="0"/>
              <a:t>恒热以“为用户提供专业热水解决方案”为目标，</a:t>
            </a:r>
            <a:endParaRPr lang="zh-CN" altLang="en-US" dirty="0"/>
          </a:p>
          <a:p>
            <a:pPr defTabSz="1828800">
              <a:lnSpc>
                <a:spcPts val="3200"/>
              </a:lnSpc>
              <a:spcBef>
                <a:spcPts val="0"/>
              </a:spcBef>
              <a:defRPr sz="26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zh-CN" altLang="en-US" dirty="0"/>
              <a:t>向客户提供专业的全周期的售后贴心服务。</a:t>
            </a:r>
            <a:endParaRPr lang="zh-CN" altLang="en-US" dirty="0"/>
          </a:p>
        </p:txBody>
      </p:sp>
      <p:sp>
        <p:nvSpPr>
          <p:cNvPr id="298" name="文本框 8"/>
          <p:cNvSpPr txBox="1"/>
          <p:nvPr/>
        </p:nvSpPr>
        <p:spPr>
          <a:xfrm>
            <a:off x="3469809" y="4844083"/>
            <a:ext cx="4937761" cy="1354215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spAutoFit/>
          </a:bodyPr>
          <a:lstStyle/>
          <a:p>
            <a:pPr defTabSz="1828800">
              <a:lnSpc>
                <a:spcPct val="100000"/>
              </a:lnSpc>
              <a:spcBef>
                <a:spcPts val="1200"/>
              </a:spcBef>
              <a:defRPr sz="28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dirty="0" err="1"/>
              <a:t>超长质保+核心部件重点保</a:t>
            </a:r>
            <a:endParaRPr dirty="0"/>
          </a:p>
          <a:p>
            <a:pPr defTabSz="1828800">
              <a:lnSpc>
                <a:spcPct val="100000"/>
              </a:lnSpc>
              <a:spcBef>
                <a:spcPts val="0"/>
              </a:spcBef>
              <a:defRPr sz="24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dirty="0" err="1"/>
              <a:t>远超行业标准的质保周期</a:t>
            </a:r>
            <a:endParaRPr dirty="0"/>
          </a:p>
          <a:p>
            <a:pPr defTabSz="1828800">
              <a:lnSpc>
                <a:spcPct val="100000"/>
              </a:lnSpc>
              <a:spcBef>
                <a:spcPts val="0"/>
              </a:spcBef>
              <a:defRPr sz="24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dirty="0"/>
              <a:t>整机质保</a:t>
            </a:r>
            <a:r>
              <a:rPr lang="en-US" dirty="0"/>
              <a:t>5</a:t>
            </a:r>
            <a:r>
              <a:rPr dirty="0"/>
              <a:t>年，坚固耐用</a:t>
            </a:r>
            <a:endParaRPr dirty="0"/>
          </a:p>
        </p:txBody>
      </p:sp>
      <p:sp>
        <p:nvSpPr>
          <p:cNvPr id="299" name="文本框 10"/>
          <p:cNvSpPr txBox="1"/>
          <p:nvPr/>
        </p:nvSpPr>
        <p:spPr>
          <a:xfrm>
            <a:off x="3469809" y="6892339"/>
            <a:ext cx="4937761" cy="1681481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spAutoFit/>
          </a:bodyPr>
          <a:lstStyle/>
          <a:p>
            <a:pPr defTabSz="1828800">
              <a:lnSpc>
                <a:spcPct val="100000"/>
              </a:lnSpc>
              <a:spcBef>
                <a:spcPts val="1200"/>
              </a:spcBef>
              <a:defRPr sz="28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免费专业保养</a:t>
            </a:r>
          </a:p>
          <a:p>
            <a:pPr defTabSz="1828800">
              <a:lnSpc>
                <a:spcPct val="100000"/>
              </a:lnSpc>
              <a:spcBef>
                <a:spcPts val="0"/>
              </a:spcBef>
              <a:defRPr sz="24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质保期内免费专业保养</a:t>
            </a:r>
          </a:p>
          <a:p>
            <a:pPr defTabSz="1828800">
              <a:lnSpc>
                <a:spcPct val="100000"/>
              </a:lnSpc>
              <a:spcBef>
                <a:spcPts val="0"/>
              </a:spcBef>
              <a:defRPr sz="24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t>出示保养清单，提供使用优化建议</a:t>
            </a:r>
          </a:p>
        </p:txBody>
      </p:sp>
      <p:sp>
        <p:nvSpPr>
          <p:cNvPr id="300" name="文本框 12"/>
          <p:cNvSpPr txBox="1"/>
          <p:nvPr/>
        </p:nvSpPr>
        <p:spPr>
          <a:xfrm>
            <a:off x="3469809" y="8940596"/>
            <a:ext cx="4823046" cy="1354215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spAutoFit/>
          </a:bodyPr>
          <a:lstStyle/>
          <a:p>
            <a:pPr defTabSz="1828800">
              <a:lnSpc>
                <a:spcPct val="100000"/>
              </a:lnSpc>
              <a:spcBef>
                <a:spcPts val="1200"/>
              </a:spcBef>
              <a:defRPr sz="28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dirty="0" err="1"/>
              <a:t>快速响应+原厂配件</a:t>
            </a:r>
            <a:endParaRPr dirty="0"/>
          </a:p>
          <a:p>
            <a:pPr defTabSz="1828800">
              <a:lnSpc>
                <a:spcPct val="100000"/>
              </a:lnSpc>
              <a:spcBef>
                <a:spcPts val="0"/>
              </a:spcBef>
              <a:defRPr sz="240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dirty="0"/>
              <a:t>24h内极速上门，维修用100%原厂配件</a:t>
            </a:r>
            <a:endParaRPr dirty="0"/>
          </a:p>
        </p:txBody>
      </p:sp>
      <p:sp>
        <p:nvSpPr>
          <p:cNvPr id="301" name="圆形"/>
          <p:cNvSpPr/>
          <p:nvPr/>
        </p:nvSpPr>
        <p:spPr>
          <a:xfrm>
            <a:off x="1884063" y="4836741"/>
            <a:ext cx="1270001" cy="1270001"/>
          </a:xfrm>
          <a:prstGeom prst="ellipse">
            <a:avLst/>
          </a:prstGeom>
          <a:solidFill>
            <a:srgbClr val="AF2D2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AF2D2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2" name="圆形"/>
          <p:cNvSpPr/>
          <p:nvPr/>
        </p:nvSpPr>
        <p:spPr>
          <a:xfrm>
            <a:off x="1884063" y="6868586"/>
            <a:ext cx="1270001" cy="1270001"/>
          </a:xfrm>
          <a:prstGeom prst="ellipse">
            <a:avLst/>
          </a:prstGeom>
          <a:solidFill>
            <a:srgbClr val="AF2D2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AF2D2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3" name="圆形"/>
          <p:cNvSpPr/>
          <p:nvPr/>
        </p:nvSpPr>
        <p:spPr>
          <a:xfrm>
            <a:off x="1884063" y="8900430"/>
            <a:ext cx="1270001" cy="1270001"/>
          </a:xfrm>
          <a:prstGeom prst="ellipse">
            <a:avLst/>
          </a:prstGeom>
          <a:solidFill>
            <a:srgbClr val="AF2D2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AF2D2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304" name="baozhang.png" descr="baozh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869" y="5113347"/>
            <a:ext cx="843789" cy="84378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05" name="baoyangjihua.png" descr="baoyangjihu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114" y="7167936"/>
            <a:ext cx="671300" cy="6713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06" name="24h-fill.png" descr="24h-fi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9869" y="9113535"/>
            <a:ext cx="843789" cy="84379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400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400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3894</Words>
  <Application>WPS 演示</Application>
  <PresentationFormat>自定义</PresentationFormat>
  <Paragraphs>566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40" baseType="lpstr">
      <vt:lpstr>Arial</vt:lpstr>
      <vt:lpstr>宋体</vt:lpstr>
      <vt:lpstr>Wingdings</vt:lpstr>
      <vt:lpstr>Helvetica Neue</vt:lpstr>
      <vt:lpstr>Helvetica Neue Medium</vt:lpstr>
      <vt:lpstr>微软雅黑</vt:lpstr>
      <vt:lpstr>微软雅黑 Light</vt:lpstr>
      <vt:lpstr>Arial Black</vt:lpstr>
      <vt:lpstr>Calibri</vt:lpstr>
      <vt:lpstr>Arial</vt:lpstr>
      <vt:lpstr>Helvetica</vt:lpstr>
      <vt:lpstr>Arial Unicode MS</vt:lpstr>
      <vt:lpstr>KSOFF8957A5C</vt:lpstr>
      <vt:lpstr>Aline Signature</vt:lpstr>
      <vt:lpstr>KSOFB4AB0A6B</vt:lpstr>
      <vt:lpstr>Arial Black</vt:lpstr>
      <vt:lpstr>Calibri</vt:lpstr>
      <vt:lpstr>Helvetica</vt:lpstr>
      <vt:lpstr>Helvetica Neue</vt:lpstr>
      <vt:lpstr>Helvetica Neue Medium</vt:lpstr>
      <vt:lpstr>Helvetica LT Pro</vt:lpstr>
      <vt:lpstr>21_BasicWhite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SisiWang</cp:lastModifiedBy>
  <cp:revision>3</cp:revision>
  <dcterms:created xsi:type="dcterms:W3CDTF">2026-08-04T08:17:50Z</dcterms:created>
  <dcterms:modified xsi:type="dcterms:W3CDTF">2026-08-04T08:52:44Z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74F5CCB0449C4F84BB4E91CACE2B8184_12</vt:lpwstr>
  </property>
</Properties>
</file>